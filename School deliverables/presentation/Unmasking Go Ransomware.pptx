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y="6858000" cx="12192000"/>
  <p:notesSz cx="6858000" cy="9144000"/>
  <p:embeddedFontLst>
    <p:embeddedFont>
      <p:font typeface="Urbanist SemiBold"/>
      <p:regular r:id="rId23"/>
      <p:bold r:id="rId24"/>
      <p:italic r:id="rId25"/>
      <p:boldItalic r:id="rId26"/>
    </p:embeddedFont>
    <p:embeddedFont>
      <p:font typeface="Urbanist"/>
      <p:regular r:id="rId27"/>
      <p:bold r:id="rId28"/>
      <p:italic r:id="rId29"/>
      <p:boldItalic r:id="rId3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612BC06-C8F2-4C54-B171-4750FFAA8043}">
  <a:tblStyle styleId="{8612BC06-C8F2-4C54-B171-4750FFAA8043}"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font" Target="fonts/UrbanistSemiBold-bold.fntdata"/><Relationship Id="rId23" Type="http://schemas.openxmlformats.org/officeDocument/2006/relationships/font" Target="fonts/UrbanistSemiBold-regular.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font" Target="fonts/UrbanistSemiBold-boldItalic.fntdata"/><Relationship Id="rId25" Type="http://schemas.openxmlformats.org/officeDocument/2006/relationships/font" Target="fonts/UrbanistSemiBold-italic.fntdata"/><Relationship Id="rId28" Type="http://schemas.openxmlformats.org/officeDocument/2006/relationships/font" Target="fonts/Urbanist-bold.fntdata"/><Relationship Id="rId27" Type="http://schemas.openxmlformats.org/officeDocument/2006/relationships/font" Target="fonts/Urbanist-regular.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font" Target="fonts/Urbanist-italic.fntdata"/><Relationship Id="rId7" Type="http://schemas.openxmlformats.org/officeDocument/2006/relationships/slide" Target="slides/slide1.xml"/><Relationship Id="rId8" Type="http://schemas.openxmlformats.org/officeDocument/2006/relationships/slide" Target="slides/slide2.xml"/><Relationship Id="rId30" Type="http://schemas.openxmlformats.org/officeDocument/2006/relationships/font" Target="fonts/Urbanist-boldItalic.fntdata"/><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1200"/>
              </a:spcAft>
              <a:buClr>
                <a:schemeClr val="dk1"/>
              </a:buClr>
              <a:buSzPts val="1100"/>
              <a:buFont typeface="Arial"/>
              <a:buNone/>
            </a:pPr>
            <a:r>
              <a:rPr lang="en-US">
                <a:solidFill>
                  <a:schemeClr val="dk1"/>
                </a:solidFill>
              </a:rPr>
              <a:t>"Hello everyone and Professor Jenkins. My name is William Elias and this is my presentation for INFA 723. Today I will demonstrate the development of Python based defensive tooling designed specifically to counter advanced Go ransomware payloads. Coming from a background in production support engineering I have witnessed how the efficiency of the Go language is being weaponized to bypass traditional security architectures. This project focuses on unmasking those threats through mathematical and structural analysis."</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None/>
            </a:pPr>
            <a:r>
              <a:rPr lang="en-US">
                <a:solidFill>
                  <a:schemeClr val="dk1"/>
                </a:solidFill>
              </a:rPr>
              <a:t>"We begin by examining why the threat landscape has shifted so dramatically toward this specific programming language."</a:t>
            </a:r>
            <a:endParaRPr>
              <a:solidFill>
                <a:schemeClr val="dk1"/>
              </a:solidFill>
            </a:endParaRPr>
          </a:p>
          <a:p>
            <a:pPr indent="0" lvl="0" marL="0" rtl="0" algn="l">
              <a:lnSpc>
                <a:spcPct val="115000"/>
              </a:lnSpc>
              <a:spcBef>
                <a:spcPts val="1200"/>
              </a:spcBef>
              <a:spcAft>
                <a:spcPts val="1200"/>
              </a:spcAft>
              <a:buNone/>
            </a:pPr>
            <a:r>
              <a:t/>
            </a:r>
            <a:endParaRPr>
              <a:solidFill>
                <a:schemeClr val="dk1"/>
              </a:solidFill>
            </a:endParaRPr>
          </a:p>
        </p:txBody>
      </p:sp>
      <p:sp>
        <p:nvSpPr>
          <p:cNvPr id="90" name="Google Shape;90;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"Modern threat actors are moving away from legacy languages in favor of Go because of three distinct advantages. First is the ease of cross platform compilation which allows a single development team to target Windows Linux and hypervisor environments simultaneously. Second is the efficiency of native concurrency which maximizes hardware throughput during encryption. Finally Go binaries are statically linked meaning they are self contained blobs of code that do not rely on external dynamic link libraries. This makes them exceptionally difficult to analyze using traditional signature based scanning."</a:t>
            </a:r>
            <a:endParaRPr>
              <a:solidFill>
                <a:schemeClr val="dk1"/>
              </a:solidFill>
            </a:endParaRPr>
          </a:p>
          <a:p>
            <a:pPr indent="0" lvl="0" marL="0" rtl="0" algn="l">
              <a:spcBef>
                <a:spcPts val="1200"/>
              </a:spcBef>
              <a:spcAft>
                <a:spcPts val="0"/>
              </a:spcAft>
              <a:buNone/>
            </a:pPr>
            <a:r>
              <a:t/>
            </a:r>
            <a:endParaRPr/>
          </a:p>
        </p:txBody>
      </p:sp>
      <p:sp>
        <p:nvSpPr>
          <p:cNvPr id="97" name="Google Shape;97;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 "The true destructive power of Go ransomware lies in the implementation of goroutines. Unlike standard operating system threads goroutines are lightweight execution units managed by the Go runtime scheduler. In a ransomware context this is weaponized to maximize disk input and output. Instead of encrypting files one by one the payload assigns a goroutine to every discovered file simultaneously. This creates a massive parallel processing event that can encrypt thousands of documents in seconds overwhelming the host system before defensive tools can intervene. My research focuses on catching this exact behavior."</a:t>
            </a:r>
            <a:endParaRPr>
              <a:solidFill>
                <a:schemeClr val="dk1"/>
              </a:solidFill>
            </a:endParaRPr>
          </a:p>
          <a:p>
            <a:pPr indent="0" lvl="0" marL="0" rtl="0" algn="l">
              <a:spcBef>
                <a:spcPts val="1200"/>
              </a:spcBef>
              <a:spcAft>
                <a:spcPts val="0"/>
              </a:spcAft>
              <a:buNone/>
            </a:pPr>
            <a:r>
              <a:t/>
            </a:r>
            <a:endParaRPr/>
          </a:p>
        </p:txBody>
      </p:sp>
      <p:sp>
        <p:nvSpPr>
          <p:cNvPr id="115" name="Google Shape;115;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"To stop these high speed attacks we must move away from easily evaded signatures and focus on the immutable mathematical footprint of encryption."</a:t>
            </a:r>
            <a:endParaRPr>
              <a:solidFill>
                <a:schemeClr val="dk1"/>
              </a:solidFill>
            </a:endParaRPr>
          </a:p>
          <a:p>
            <a:pPr indent="0" lvl="0" marL="0" rtl="0" algn="l">
              <a:spcBef>
                <a:spcPts val="1200"/>
              </a:spcBef>
              <a:spcAft>
                <a:spcPts val="0"/>
              </a:spcAft>
              <a:buNone/>
            </a:pPr>
            <a:r>
              <a:t/>
            </a:r>
            <a:endParaRPr/>
          </a:p>
        </p:txBody>
      </p:sp>
      <p:sp>
        <p:nvSpPr>
          <p:cNvPr id="126" name="Google Shape;126;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"The core of my dynamic detection strategy is the application of Shannon entropy. Entropy is a mathematical measure of the uncertainty or randomness within a data set. A standard text document has predictable patterns and low randomness which results in a low entropy score. However a file encrypted with a modern cipher like AES 256 creates a nearly uniform distribution of bytes. By leveraging the SciPy library my Python monitor calculates this randomness in real time as files are written to the disk. This allows us to identify the cryptographic signature of an attack regardless of what techniques the malware uses to obscure its execution path."</a:t>
            </a:r>
            <a:endParaRPr>
              <a:solidFill>
                <a:schemeClr val="dk1"/>
              </a:solidFill>
            </a:endParaRPr>
          </a:p>
          <a:p>
            <a:pPr indent="0" lvl="0" marL="0" rtl="0" algn="l">
              <a:spcBef>
                <a:spcPts val="1200"/>
              </a:spcBef>
              <a:spcAft>
                <a:spcPts val="0"/>
              </a:spcAft>
              <a:buNone/>
            </a:pPr>
            <a:r>
              <a:t/>
            </a:r>
            <a:endParaRPr/>
          </a:p>
        </p:txBody>
      </p:sp>
      <p:sp>
        <p:nvSpPr>
          <p:cNvPr id="133" name="Google Shape;133;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"In information theory the absolute limit for an eight bit byte is a score of exactly eight point zero. This represents absolute randomness where every byte value has an equal probability of appearing. My detection tool uses a critical threshold of seven point nine five. Most legitimate files, even highly compressed databases rarely approach this limit. However the pseudorandom output of ransomware encryption loops consistently registers at the very top of this scale. By focusing on this mathematical certainty we can trigger a critical alert the moment the encryption loop begins."</a:t>
            </a:r>
            <a:endParaRPr>
              <a:solidFill>
                <a:schemeClr val="dk1"/>
              </a:solidFill>
            </a:endParaRPr>
          </a:p>
          <a:p>
            <a:pPr indent="0" lvl="0" marL="0" rtl="0" algn="l">
              <a:spcBef>
                <a:spcPts val="1200"/>
              </a:spcBef>
              <a:spcAft>
                <a:spcPts val="0"/>
              </a:spcAft>
              <a:buNone/>
            </a:pPr>
            <a:r>
              <a:t/>
            </a:r>
            <a:endParaRPr/>
          </a:p>
        </p:txBody>
      </p:sp>
      <p:sp>
        <p:nvSpPr>
          <p:cNvPr id="145" name="Google Shape;145;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"To validate this model I performed extensive comparative testing. As you can see on the screen a standard plain text document registers an entropy score of roughly four point one while a SQLite database sits around five point four. These are well within the safe zone. In contrast, files modified by my Go ransomware simulator consistently hit scores of seven point nine nine and eight point zero. This clear mathematical gap is what allows our Python tooling to distinguish between normal user activity and a weaponized payload with high precision."</a:t>
            </a:r>
            <a:endParaRPr>
              <a:solidFill>
                <a:schemeClr val="dk1"/>
              </a:solidFill>
            </a:endParaRPr>
          </a:p>
          <a:p>
            <a:pPr indent="0" lvl="0" marL="0" rtl="0" algn="l">
              <a:spcBef>
                <a:spcPts val="1200"/>
              </a:spcBef>
              <a:spcAft>
                <a:spcPts val="0"/>
              </a:spcAft>
              <a:buNone/>
            </a:pPr>
            <a:r>
              <a:t/>
            </a:r>
            <a:endParaRPr/>
          </a:p>
        </p:txBody>
      </p:sp>
      <p:sp>
        <p:nvSpPr>
          <p:cNvPr id="155" name="Google Shape;155;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"While dynamic monitoring catches the execution we also need a way to unmask dormant binaries even when they are obfuscated."</a:t>
            </a:r>
            <a:endParaRPr>
              <a:solidFill>
                <a:schemeClr val="dk1"/>
              </a:solidFill>
            </a:endParaRPr>
          </a:p>
          <a:p>
            <a:pPr indent="0" lvl="0" marL="0" rtl="0" algn="l">
              <a:spcBef>
                <a:spcPts val="1200"/>
              </a:spcBef>
              <a:spcAft>
                <a:spcPts val="0"/>
              </a:spcAft>
              <a:buNone/>
            </a:pPr>
            <a:r>
              <a:t/>
            </a:r>
            <a:endParaRPr/>
          </a:p>
        </p:txBody>
      </p:sp>
      <p:sp>
        <p:nvSpPr>
          <p:cNvPr id="194" name="Google Shape;194;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"Threat actors often strip the symbol tables from their binaries to hide function names and frustrate malware analysts. However they cannot easily hide the fundamental architecture of the Go compiler. The Go runtime requires a specific table called the Program Counter Line Number Table to manage memory and stack traces. I developed a Python script using the PEfile library to parse the portable executable headers of a suspicious binary. By locating this hidden runtime structure we can definitively identify a binary as a Go artifact even if it has been stripped of all debugging symbols."</a:t>
            </a:r>
            <a:endParaRPr>
              <a:solidFill>
                <a:schemeClr val="dk1"/>
              </a:solidFill>
            </a:endParaRPr>
          </a:p>
          <a:p>
            <a:pPr indent="0" lvl="0" marL="0" rtl="0" algn="l">
              <a:spcBef>
                <a:spcPts val="1200"/>
              </a:spcBef>
              <a:spcAft>
                <a:spcPts val="0"/>
              </a:spcAft>
              <a:buNone/>
            </a:pPr>
            <a:r>
              <a:t/>
            </a:r>
            <a:endParaRPr>
              <a:solidFill>
                <a:schemeClr val="dk1"/>
              </a:solidFill>
            </a:endParaRPr>
          </a:p>
        </p:txBody>
      </p:sp>
      <p:sp>
        <p:nvSpPr>
          <p:cNvPr id="201" name="Google Shape;201;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 "For the deployment of this project I utilized the 'uv' environment manager. This tool provides exceptionally fast dependency resolution which is vital for security applications. The pipeline relies on three primary Python libraries: PEfile for header parsing SciPy for entropy calculations and NumPy for byte distribution analysis. The central configuration is managed through a JSON file allowing for rapid adjustment of entropy thresholds and target directories without modifying the underlying source code."</a:t>
            </a:r>
            <a:endParaRPr>
              <a:solidFill>
                <a:schemeClr val="dk1"/>
              </a:solidFill>
            </a:endParaRPr>
          </a:p>
          <a:p>
            <a:pPr indent="0" lvl="0" marL="0" rtl="0" algn="l">
              <a:spcBef>
                <a:spcPts val="1200"/>
              </a:spcBef>
              <a:spcAft>
                <a:spcPts val="0"/>
              </a:spcAft>
              <a:buNone/>
            </a:pPr>
            <a:r>
              <a:t/>
            </a:r>
            <a:endParaRPr/>
          </a:p>
        </p:txBody>
      </p:sp>
      <p:sp>
        <p:nvSpPr>
          <p:cNvPr id="211" name="Google Shape;211;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"In a production environment we must account for legitimate high entropy data such as ZIP files or encrypted backups. To mitigate false positives the detection model should be layered with secondary logic. This includes monitoring the velocity of file changes and verifying file extensions. A user manually creating a compressed archive is a slow event while a Go ransomware payload using concurrent goroutines is an exceptionally high velocity event. Combining entropy with velocity thresholds ensures the system remains accurate in complex enterprise environments."</a:t>
            </a:r>
            <a:endParaRPr>
              <a:solidFill>
                <a:schemeClr val="dk1"/>
              </a:solidFill>
            </a:endParaRPr>
          </a:p>
          <a:p>
            <a:pPr indent="0" lvl="0" marL="0" rtl="0" algn="l">
              <a:spcBef>
                <a:spcPts val="1200"/>
              </a:spcBef>
              <a:spcAft>
                <a:spcPts val="0"/>
              </a:spcAft>
              <a:buNone/>
            </a:pPr>
            <a:r>
              <a:t/>
            </a:r>
            <a:endParaRPr>
              <a:solidFill>
                <a:schemeClr val="dk1"/>
              </a:solidFill>
            </a:endParaRPr>
          </a:p>
        </p:txBody>
      </p:sp>
      <p:sp>
        <p:nvSpPr>
          <p:cNvPr id="226" name="Google Shape;226;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"The results of the simulation were definitive. Against a custom Go simulator spawning one hundred concurrent encryption threads the Python monitor achieved a perfect one hundred percent detection rate. Every malicious file modification triggered a critical alert. Conversely the baseline testing with standard text data resulted in zero false positives. Furthermore the static analyzer successfully identified the Go runtime artifacts in the stripped simulator binary every time. These results prove that mathematical and structural analysis can reliably unmask modern Go malware."</a:t>
            </a:r>
            <a:endParaRPr>
              <a:solidFill>
                <a:schemeClr val="dk1"/>
              </a:solidFill>
            </a:endParaRPr>
          </a:p>
          <a:p>
            <a:pPr indent="0" lvl="0" marL="0" rtl="0" algn="l">
              <a:spcBef>
                <a:spcPts val="1200"/>
              </a:spcBef>
              <a:spcAft>
                <a:spcPts val="0"/>
              </a:spcAft>
              <a:buNone/>
            </a:pPr>
            <a:r>
              <a:t/>
            </a:r>
            <a:endParaRPr/>
          </a:p>
        </p:txBody>
      </p:sp>
      <p:sp>
        <p:nvSpPr>
          <p:cNvPr id="244" name="Google Shape;244;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1200"/>
              </a:spcAft>
              <a:buClr>
                <a:schemeClr val="dk1"/>
              </a:buClr>
              <a:buSzPts val="1100"/>
              <a:buFont typeface="Arial"/>
              <a:buNone/>
            </a:pPr>
            <a:r>
              <a:rPr lang="en-US">
                <a:solidFill>
                  <a:schemeClr val="dk1"/>
                </a:solidFill>
              </a:rPr>
              <a:t>"By combining real time entropy checks with static header analysis we can identify and interrupt aggressive Go payloads before catastrophic data loss occurs. This concludes my presentation on unmasking Go ransomware.”</a:t>
            </a:r>
            <a:endParaRPr/>
          </a:p>
        </p:txBody>
      </p:sp>
      <p:sp>
        <p:nvSpPr>
          <p:cNvPr id="251" name="Google Shape;251;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Thank you for your time and I am happy to answer any questions by email or messages.</a:t>
            </a:r>
            <a:endParaRPr>
              <a:solidFill>
                <a:schemeClr val="dk1"/>
              </a:solidFill>
            </a:endParaRPr>
          </a:p>
          <a:p>
            <a:pPr indent="0" lvl="0" marL="0" rtl="0" algn="l">
              <a:spcBef>
                <a:spcPts val="1200"/>
              </a:spcBef>
              <a:spcAft>
                <a:spcPts val="0"/>
              </a:spcAft>
              <a:buNone/>
            </a:pPr>
            <a:r>
              <a:t/>
            </a:r>
            <a:endParaRPr/>
          </a:p>
        </p:txBody>
      </p:sp>
      <p:sp>
        <p:nvSpPr>
          <p:cNvPr id="259" name="Google Shape;259;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6.png"/><Relationship Id="rId9" Type="http://schemas.openxmlformats.org/officeDocument/2006/relationships/image" Target="../media/image22.png"/><Relationship Id="rId5" Type="http://schemas.openxmlformats.org/officeDocument/2006/relationships/image" Target="../media/image1.png"/><Relationship Id="rId6" Type="http://schemas.openxmlformats.org/officeDocument/2006/relationships/image" Target="../media/image8.png"/><Relationship Id="rId7" Type="http://schemas.openxmlformats.org/officeDocument/2006/relationships/image" Target="../media/image13.png"/><Relationship Id="rId8"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7.png"/><Relationship Id="rId5" Type="http://schemas.openxmlformats.org/officeDocument/2006/relationships/image" Target="../media/image1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2.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26.png"/><Relationship Id="rId7"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6.png"/><Relationship Id="rId9" Type="http://schemas.openxmlformats.org/officeDocument/2006/relationships/image" Target="../media/image21.png"/><Relationship Id="rId5" Type="http://schemas.openxmlformats.org/officeDocument/2006/relationships/image" Target="../media/image1.png"/><Relationship Id="rId6" Type="http://schemas.openxmlformats.org/officeDocument/2006/relationships/image" Target="../media/image8.png"/><Relationship Id="rId7" Type="http://schemas.openxmlformats.org/officeDocument/2006/relationships/image" Target="../media/image25.png"/><Relationship Id="rId8" Type="http://schemas.openxmlformats.org/officeDocument/2006/relationships/image" Target="../media/image2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7.png"/><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83" name="Shape 83"/>
        <p:cNvGrpSpPr/>
        <p:nvPr/>
      </p:nvGrpSpPr>
      <p:grpSpPr>
        <a:xfrm>
          <a:off x="0" y="0"/>
          <a:ext cx="0" cy="0"/>
          <a:chOff x="0" y="0"/>
          <a:chExt cx="0" cy="0"/>
        </a:xfrm>
      </p:grpSpPr>
      <p:pic>
        <p:nvPicPr>
          <p:cNvPr descr="image.png" id="84" name="Google Shape;84;p1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5" name="Google Shape;85;p13"/>
          <p:cNvSpPr txBox="1"/>
          <p:nvPr/>
        </p:nvSpPr>
        <p:spPr>
          <a:xfrm>
            <a:off x="725328" y="2412652"/>
            <a:ext cx="10741342" cy="838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US" sz="6600" u="none" cap="none" strike="noStrike">
                <a:solidFill>
                  <a:srgbClr val="F8FAFC"/>
                </a:solidFill>
                <a:latin typeface="Urbanist"/>
                <a:ea typeface="Urbanist"/>
                <a:cs typeface="Urbanist"/>
                <a:sym typeface="Urbanist"/>
              </a:rPr>
              <a:t>Unmasking </a:t>
            </a:r>
            <a:r>
              <a:rPr b="1" i="0" lang="en-US" sz="6600" u="none" cap="none" strike="noStrike">
                <a:solidFill>
                  <a:srgbClr val="CCFF00"/>
                </a:solidFill>
                <a:latin typeface="Urbanist"/>
                <a:ea typeface="Urbanist"/>
                <a:cs typeface="Urbanist"/>
                <a:sym typeface="Urbanist"/>
              </a:rPr>
              <a:t>Go</a:t>
            </a:r>
            <a:r>
              <a:rPr b="1" i="0" lang="en-US" sz="6600" u="none" cap="none" strike="noStrike">
                <a:solidFill>
                  <a:srgbClr val="F8FAFC"/>
                </a:solidFill>
                <a:latin typeface="Urbanist"/>
                <a:ea typeface="Urbanist"/>
                <a:cs typeface="Urbanist"/>
                <a:sym typeface="Urbanist"/>
              </a:rPr>
              <a:t> Ransomware</a:t>
            </a:r>
            <a:endParaRPr/>
          </a:p>
        </p:txBody>
      </p:sp>
      <p:sp>
        <p:nvSpPr>
          <p:cNvPr id="86" name="Google Shape;86;p13"/>
          <p:cNvSpPr txBox="1"/>
          <p:nvPr/>
        </p:nvSpPr>
        <p:spPr>
          <a:xfrm>
            <a:off x="981075" y="3488977"/>
            <a:ext cx="10230000" cy="231000"/>
          </a:xfrm>
          <a:prstGeom prst="rect">
            <a:avLst/>
          </a:prstGeom>
          <a:noFill/>
          <a:ln>
            <a:noFill/>
          </a:ln>
        </p:spPr>
        <p:txBody>
          <a:bodyPr anchorCtr="0" anchor="t" bIns="0" lIns="0" spcFirstLastPara="1" rIns="0" wrap="square" tIns="0">
            <a:spAutoFit/>
          </a:bodyPr>
          <a:lstStyle/>
          <a:p>
            <a:pPr indent="0" lvl="0" marL="0" marR="0" rtl="0" algn="ctr">
              <a:lnSpc>
                <a:spcPct val="160000"/>
              </a:lnSpc>
              <a:spcBef>
                <a:spcPts val="0"/>
              </a:spcBef>
              <a:spcAft>
                <a:spcPts val="0"/>
              </a:spcAft>
              <a:buNone/>
            </a:pPr>
            <a:r>
              <a:rPr b="0" i="0" lang="en-US" sz="1500" u="none" cap="none" strike="noStrike">
                <a:solidFill>
                  <a:srgbClr val="94A3B8"/>
                </a:solidFill>
                <a:latin typeface="Urbanist"/>
                <a:ea typeface="Urbanist"/>
                <a:cs typeface="Urbanist"/>
                <a:sym typeface="Urbanist"/>
              </a:rPr>
              <a:t>Python Based Defensive Tooling for Advanced Payloads</a:t>
            </a:r>
            <a:endParaRPr/>
          </a:p>
        </p:txBody>
      </p:sp>
      <p:sp>
        <p:nvSpPr>
          <p:cNvPr id="87" name="Google Shape;87;p13"/>
          <p:cNvSpPr txBox="1"/>
          <p:nvPr/>
        </p:nvSpPr>
        <p:spPr>
          <a:xfrm>
            <a:off x="981075" y="3936652"/>
            <a:ext cx="10229850" cy="365670"/>
          </a:xfrm>
          <a:prstGeom prst="rect">
            <a:avLst/>
          </a:prstGeom>
          <a:noFill/>
          <a:ln>
            <a:noFill/>
          </a:ln>
        </p:spPr>
        <p:txBody>
          <a:bodyPr anchorCtr="0" anchor="t" bIns="0" lIns="0" spcFirstLastPara="1" rIns="0" wrap="square" tIns="0">
            <a:spAutoFit/>
          </a:bodyPr>
          <a:lstStyle/>
          <a:p>
            <a:pPr indent="0" lvl="0" marL="0" marR="0" rtl="0" algn="ctr">
              <a:lnSpc>
                <a:spcPct val="159944"/>
              </a:lnSpc>
              <a:spcBef>
                <a:spcPts val="0"/>
              </a:spcBef>
              <a:spcAft>
                <a:spcPts val="0"/>
              </a:spcAft>
              <a:buNone/>
            </a:pPr>
            <a:r>
              <a:rPr b="0" i="0" lang="en-US" sz="1800" u="none" cap="none" strike="noStrike">
                <a:solidFill>
                  <a:srgbClr val="CCFF00"/>
                </a:solidFill>
                <a:latin typeface="Urbanist SemiBold"/>
                <a:ea typeface="Urbanist SemiBold"/>
                <a:cs typeface="Urbanist SemiBold"/>
                <a:sym typeface="Urbanist SemiBold"/>
              </a:rPr>
              <a:t>William Elias | INFA 723 Project Presentation</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91" name="Shape 91"/>
        <p:cNvGrpSpPr/>
        <p:nvPr/>
      </p:nvGrpSpPr>
      <p:grpSpPr>
        <a:xfrm>
          <a:off x="0" y="0"/>
          <a:ext cx="0" cy="0"/>
          <a:chOff x="0" y="0"/>
          <a:chExt cx="0" cy="0"/>
        </a:xfrm>
      </p:grpSpPr>
      <p:pic>
        <p:nvPicPr>
          <p:cNvPr descr="image.png" id="92" name="Google Shape;92;p1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3" name="Google Shape;93;p14"/>
          <p:cNvSpPr txBox="1"/>
          <p:nvPr/>
        </p:nvSpPr>
        <p:spPr>
          <a:xfrm>
            <a:off x="2440543" y="2900362"/>
            <a:ext cx="7310913" cy="81915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5400" u="none" cap="none" strike="noStrike">
                <a:solidFill>
                  <a:srgbClr val="F8FAFC"/>
                </a:solidFill>
                <a:latin typeface="Urbanist"/>
                <a:ea typeface="Urbanist"/>
                <a:cs typeface="Urbanist"/>
                <a:sym typeface="Urbanist"/>
              </a:rPr>
              <a:t>The Threat Landscape</a:t>
            </a:r>
            <a:endParaRPr/>
          </a:p>
        </p:txBody>
      </p:sp>
      <p:sp>
        <p:nvSpPr>
          <p:cNvPr id="94" name="Google Shape;94;p14"/>
          <p:cNvSpPr txBox="1"/>
          <p:nvPr/>
        </p:nvSpPr>
        <p:spPr>
          <a:xfrm>
            <a:off x="2614612" y="3910012"/>
            <a:ext cx="6962775" cy="304800"/>
          </a:xfrm>
          <a:prstGeom prst="rect">
            <a:avLst/>
          </a:prstGeom>
          <a:noFill/>
          <a:ln>
            <a:noFill/>
          </a:ln>
        </p:spPr>
        <p:txBody>
          <a:bodyPr anchorCtr="0" anchor="t" bIns="0" lIns="0" spcFirstLastPara="1" rIns="0" wrap="square" tIns="0">
            <a:spAutoFit/>
          </a:bodyPr>
          <a:lstStyle/>
          <a:p>
            <a:pPr indent="0" lvl="0" marL="0" marR="0" rtl="0" algn="ctr">
              <a:lnSpc>
                <a:spcPct val="160000"/>
              </a:lnSpc>
              <a:spcBef>
                <a:spcPts val="0"/>
              </a:spcBef>
              <a:spcAft>
                <a:spcPts val="0"/>
              </a:spcAft>
              <a:buNone/>
            </a:pPr>
            <a:r>
              <a:rPr b="0" i="0" lang="en-US" sz="1500" u="none" cap="none" strike="noStrike">
                <a:solidFill>
                  <a:srgbClr val="94A3B8"/>
                </a:solidFill>
                <a:latin typeface="Urbanist"/>
                <a:ea typeface="Urbanist"/>
                <a:cs typeface="Urbanist"/>
                <a:sym typeface="Urbanist"/>
              </a:rPr>
              <a:t>Understanding the shift in extortion architecture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98" name="Shape 98"/>
        <p:cNvGrpSpPr/>
        <p:nvPr/>
      </p:nvGrpSpPr>
      <p:grpSpPr>
        <a:xfrm>
          <a:off x="0" y="0"/>
          <a:ext cx="0" cy="0"/>
          <a:chOff x="0" y="0"/>
          <a:chExt cx="0" cy="0"/>
        </a:xfrm>
      </p:grpSpPr>
      <p:pic>
        <p:nvPicPr>
          <p:cNvPr descr="image.png" id="99" name="Google Shape;99;p15"/>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100" name="Google Shape;100;p15"/>
          <p:cNvPicPr preferRelativeResize="0"/>
          <p:nvPr/>
        </p:nvPicPr>
        <p:blipFill rotWithShape="1">
          <a:blip r:embed="rId4">
            <a:alphaModFix/>
          </a:blip>
          <a:srcRect b="0" l="0" r="0" t="0"/>
          <a:stretch/>
        </p:blipFill>
        <p:spPr>
          <a:xfrm>
            <a:off x="581025" y="2157412"/>
            <a:ext cx="3486150" cy="3476625"/>
          </a:xfrm>
          <a:prstGeom prst="rect">
            <a:avLst/>
          </a:prstGeom>
          <a:noFill/>
          <a:ln>
            <a:noFill/>
          </a:ln>
        </p:spPr>
      </p:pic>
      <p:pic>
        <p:nvPicPr>
          <p:cNvPr descr="image.png" id="101" name="Google Shape;101;p15"/>
          <p:cNvPicPr preferRelativeResize="0"/>
          <p:nvPr/>
        </p:nvPicPr>
        <p:blipFill rotWithShape="1">
          <a:blip r:embed="rId5">
            <a:alphaModFix/>
          </a:blip>
          <a:srcRect b="0" l="0" r="0" t="0"/>
          <a:stretch/>
        </p:blipFill>
        <p:spPr>
          <a:xfrm>
            <a:off x="4352925" y="2157412"/>
            <a:ext cx="3486150" cy="3476625"/>
          </a:xfrm>
          <a:prstGeom prst="rect">
            <a:avLst/>
          </a:prstGeom>
          <a:noFill/>
          <a:ln>
            <a:noFill/>
          </a:ln>
        </p:spPr>
      </p:pic>
      <p:pic>
        <p:nvPicPr>
          <p:cNvPr descr="image.png" id="102" name="Google Shape;102;p15"/>
          <p:cNvPicPr preferRelativeResize="0"/>
          <p:nvPr/>
        </p:nvPicPr>
        <p:blipFill rotWithShape="1">
          <a:blip r:embed="rId6">
            <a:alphaModFix/>
          </a:blip>
          <a:srcRect b="0" l="0" r="0" t="0"/>
          <a:stretch/>
        </p:blipFill>
        <p:spPr>
          <a:xfrm>
            <a:off x="8124825" y="2157412"/>
            <a:ext cx="3486150" cy="3476625"/>
          </a:xfrm>
          <a:prstGeom prst="rect">
            <a:avLst/>
          </a:prstGeom>
          <a:noFill/>
          <a:ln>
            <a:noFill/>
          </a:ln>
        </p:spPr>
      </p:pic>
      <p:sp>
        <p:nvSpPr>
          <p:cNvPr id="103" name="Google Shape;103;p15"/>
          <p:cNvSpPr txBox="1"/>
          <p:nvPr/>
        </p:nvSpPr>
        <p:spPr>
          <a:xfrm>
            <a:off x="971550" y="3405187"/>
            <a:ext cx="2840355" cy="3619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400" u="none" cap="none" strike="noStrike">
                <a:solidFill>
                  <a:srgbClr val="F8FAFC"/>
                </a:solidFill>
                <a:latin typeface="Urbanist"/>
                <a:ea typeface="Urbanist"/>
                <a:cs typeface="Urbanist"/>
                <a:sym typeface="Urbanist"/>
              </a:rPr>
              <a:t>Cross Platform</a:t>
            </a:r>
            <a:endParaRPr/>
          </a:p>
        </p:txBody>
      </p:sp>
      <p:sp>
        <p:nvSpPr>
          <p:cNvPr id="104" name="Google Shape;104;p15"/>
          <p:cNvSpPr txBox="1"/>
          <p:nvPr/>
        </p:nvSpPr>
        <p:spPr>
          <a:xfrm>
            <a:off x="971550" y="3881437"/>
            <a:ext cx="2705100" cy="1219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500" u="none" cap="none" strike="noStrike">
                <a:solidFill>
                  <a:srgbClr val="94A3B8"/>
                </a:solidFill>
                <a:latin typeface="Urbanist"/>
                <a:ea typeface="Urbanist"/>
                <a:cs typeface="Urbanist"/>
                <a:sym typeface="Urbanist"/>
              </a:rPr>
              <a:t>One unified codebase targets Windows Linux and hypervisors simultaneously through native compilation.</a:t>
            </a:r>
            <a:endParaRPr/>
          </a:p>
        </p:txBody>
      </p:sp>
      <p:sp>
        <p:nvSpPr>
          <p:cNvPr id="105" name="Google Shape;105;p15"/>
          <p:cNvSpPr txBox="1"/>
          <p:nvPr/>
        </p:nvSpPr>
        <p:spPr>
          <a:xfrm>
            <a:off x="4743450" y="3405187"/>
            <a:ext cx="2840355" cy="3619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400" u="none" cap="none" strike="noStrike">
                <a:solidFill>
                  <a:srgbClr val="F8FAFC"/>
                </a:solidFill>
                <a:latin typeface="Urbanist"/>
                <a:ea typeface="Urbanist"/>
                <a:cs typeface="Urbanist"/>
                <a:sym typeface="Urbanist"/>
              </a:rPr>
              <a:t>Concurrency</a:t>
            </a:r>
            <a:endParaRPr/>
          </a:p>
        </p:txBody>
      </p:sp>
      <p:sp>
        <p:nvSpPr>
          <p:cNvPr id="106" name="Google Shape;106;p15"/>
          <p:cNvSpPr txBox="1"/>
          <p:nvPr/>
        </p:nvSpPr>
        <p:spPr>
          <a:xfrm>
            <a:off x="4743450" y="3881437"/>
            <a:ext cx="2705100" cy="1219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500" u="none" cap="none" strike="noStrike">
                <a:solidFill>
                  <a:srgbClr val="94A3B8"/>
                </a:solidFill>
                <a:latin typeface="Urbanist"/>
                <a:ea typeface="Urbanist"/>
                <a:cs typeface="Urbanist"/>
                <a:sym typeface="Urbanist"/>
              </a:rPr>
              <a:t>Native goroutines enable massive parallel encryption loops that overwhelm host system resources.</a:t>
            </a:r>
            <a:endParaRPr/>
          </a:p>
        </p:txBody>
      </p:sp>
      <p:sp>
        <p:nvSpPr>
          <p:cNvPr id="107" name="Google Shape;107;p15"/>
          <p:cNvSpPr txBox="1"/>
          <p:nvPr/>
        </p:nvSpPr>
        <p:spPr>
          <a:xfrm>
            <a:off x="8515350" y="3405187"/>
            <a:ext cx="2840355" cy="3619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400" u="none" cap="none" strike="noStrike">
                <a:solidFill>
                  <a:srgbClr val="F8FAFC"/>
                </a:solidFill>
                <a:latin typeface="Urbanist"/>
                <a:ea typeface="Urbanist"/>
                <a:cs typeface="Urbanist"/>
                <a:sym typeface="Urbanist"/>
              </a:rPr>
              <a:t>Static Linking</a:t>
            </a:r>
            <a:endParaRPr/>
          </a:p>
        </p:txBody>
      </p:sp>
      <p:sp>
        <p:nvSpPr>
          <p:cNvPr id="108" name="Google Shape;108;p15"/>
          <p:cNvSpPr txBox="1"/>
          <p:nvPr/>
        </p:nvSpPr>
        <p:spPr>
          <a:xfrm>
            <a:off x="8515350" y="3881437"/>
            <a:ext cx="2705100" cy="1219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500" u="none" cap="none" strike="noStrike">
                <a:solidFill>
                  <a:srgbClr val="94A3B8"/>
                </a:solidFill>
                <a:latin typeface="Urbanist"/>
                <a:ea typeface="Urbanist"/>
                <a:cs typeface="Urbanist"/>
                <a:sym typeface="Urbanist"/>
              </a:rPr>
              <a:t>Binaries are self contained blobs that bypass dependency checks and frustrate traditional analysis.</a:t>
            </a:r>
            <a:endParaRPr/>
          </a:p>
        </p:txBody>
      </p:sp>
      <p:pic>
        <p:nvPicPr>
          <p:cNvPr descr="image.png" id="109" name="Google Shape;109;p15"/>
          <p:cNvPicPr preferRelativeResize="0"/>
          <p:nvPr/>
        </p:nvPicPr>
        <p:blipFill rotWithShape="1">
          <a:blip r:embed="rId7">
            <a:alphaModFix/>
          </a:blip>
          <a:srcRect b="0" l="0" r="0" t="0"/>
          <a:stretch/>
        </p:blipFill>
        <p:spPr>
          <a:xfrm>
            <a:off x="971550" y="2586037"/>
            <a:ext cx="447675" cy="514350"/>
          </a:xfrm>
          <a:prstGeom prst="rect">
            <a:avLst/>
          </a:prstGeom>
          <a:noFill/>
          <a:ln>
            <a:noFill/>
          </a:ln>
        </p:spPr>
      </p:pic>
      <p:pic>
        <p:nvPicPr>
          <p:cNvPr descr="image.png" id="110" name="Google Shape;110;p15"/>
          <p:cNvPicPr preferRelativeResize="0"/>
          <p:nvPr/>
        </p:nvPicPr>
        <p:blipFill rotWithShape="1">
          <a:blip r:embed="rId8">
            <a:alphaModFix/>
          </a:blip>
          <a:srcRect b="0" l="0" r="0" t="0"/>
          <a:stretch/>
        </p:blipFill>
        <p:spPr>
          <a:xfrm>
            <a:off x="4743450" y="2586037"/>
            <a:ext cx="390525" cy="514350"/>
          </a:xfrm>
          <a:prstGeom prst="rect">
            <a:avLst/>
          </a:prstGeom>
          <a:noFill/>
          <a:ln>
            <a:noFill/>
          </a:ln>
        </p:spPr>
      </p:pic>
      <p:pic>
        <p:nvPicPr>
          <p:cNvPr descr="image.png" id="111" name="Google Shape;111;p15"/>
          <p:cNvPicPr preferRelativeResize="0"/>
          <p:nvPr/>
        </p:nvPicPr>
        <p:blipFill rotWithShape="1">
          <a:blip r:embed="rId9">
            <a:alphaModFix/>
          </a:blip>
          <a:srcRect b="0" l="0" r="0" t="0"/>
          <a:stretch/>
        </p:blipFill>
        <p:spPr>
          <a:xfrm>
            <a:off x="8515350" y="2586037"/>
            <a:ext cx="514350" cy="514350"/>
          </a:xfrm>
          <a:prstGeom prst="rect">
            <a:avLst/>
          </a:prstGeom>
          <a:noFill/>
          <a:ln>
            <a:noFill/>
          </a:ln>
        </p:spPr>
      </p:pic>
      <p:sp>
        <p:nvSpPr>
          <p:cNvPr id="112" name="Google Shape;112;p15"/>
          <p:cNvSpPr txBox="1"/>
          <p:nvPr/>
        </p:nvSpPr>
        <p:spPr>
          <a:xfrm>
            <a:off x="581025" y="1223962"/>
            <a:ext cx="11581447" cy="5524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3600" u="none" cap="none" strike="noStrike">
                <a:solidFill>
                  <a:srgbClr val="CCFF00"/>
                </a:solidFill>
                <a:latin typeface="Urbanist SemiBold"/>
                <a:ea typeface="Urbanist SemiBold"/>
                <a:cs typeface="Urbanist SemiBold"/>
                <a:sym typeface="Urbanist SemiBold"/>
              </a:rPr>
              <a:t>Strategic Shift in Architecture</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16" name="Shape 116"/>
        <p:cNvGrpSpPr/>
        <p:nvPr/>
      </p:nvGrpSpPr>
      <p:grpSpPr>
        <a:xfrm>
          <a:off x="0" y="0"/>
          <a:ext cx="0" cy="0"/>
          <a:chOff x="0" y="0"/>
          <a:chExt cx="0" cy="0"/>
        </a:xfrm>
      </p:grpSpPr>
      <p:pic>
        <p:nvPicPr>
          <p:cNvPr descr="image.png" id="117" name="Google Shape;117;p16"/>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118" name="Google Shape;118;p16"/>
          <p:cNvPicPr preferRelativeResize="0"/>
          <p:nvPr/>
        </p:nvPicPr>
        <p:blipFill rotWithShape="1">
          <a:blip r:embed="rId4">
            <a:alphaModFix/>
          </a:blip>
          <a:srcRect b="0" l="0" r="0" t="0"/>
          <a:stretch/>
        </p:blipFill>
        <p:spPr>
          <a:xfrm>
            <a:off x="6381750" y="1895475"/>
            <a:ext cx="5229225" cy="4000500"/>
          </a:xfrm>
          <a:prstGeom prst="rect">
            <a:avLst/>
          </a:prstGeom>
          <a:noFill/>
          <a:ln>
            <a:noFill/>
          </a:ln>
        </p:spPr>
      </p:pic>
      <p:sp>
        <p:nvSpPr>
          <p:cNvPr id="119" name="Google Shape;119;p16"/>
          <p:cNvSpPr txBox="1"/>
          <p:nvPr/>
        </p:nvSpPr>
        <p:spPr>
          <a:xfrm>
            <a:off x="581025" y="2767012"/>
            <a:ext cx="5229225" cy="609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500" u="none" cap="none" strike="noStrike">
                <a:solidFill>
                  <a:srgbClr val="94A3B8"/>
                </a:solidFill>
                <a:latin typeface="Urbanist"/>
                <a:ea typeface="Urbanist"/>
                <a:cs typeface="Urbanist"/>
                <a:sym typeface="Urbanist"/>
              </a:rPr>
              <a:t>Modern payloads leverage Go internal scheduling to manage thousands of lightweight execution units.</a:t>
            </a:r>
            <a:endParaRPr/>
          </a:p>
        </p:txBody>
      </p:sp>
      <p:sp>
        <p:nvSpPr>
          <p:cNvPr id="120" name="Google Shape;120;p16"/>
          <p:cNvSpPr txBox="1"/>
          <p:nvPr/>
        </p:nvSpPr>
        <p:spPr>
          <a:xfrm>
            <a:off x="581025" y="3519487"/>
            <a:ext cx="5229225" cy="609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500" u="none" cap="none" strike="noStrike">
                <a:solidFill>
                  <a:srgbClr val="94A3B8"/>
                </a:solidFill>
                <a:latin typeface="Urbanist"/>
                <a:ea typeface="Urbanist"/>
                <a:cs typeface="Urbanist"/>
                <a:sym typeface="Urbanist"/>
              </a:rPr>
              <a:t>Instead of sequential encryption the payload assigns a goroutine to every discovered file instantly.</a:t>
            </a:r>
            <a:endParaRPr/>
          </a:p>
        </p:txBody>
      </p:sp>
      <p:sp>
        <p:nvSpPr>
          <p:cNvPr id="121" name="Google Shape;121;p16"/>
          <p:cNvSpPr txBox="1"/>
          <p:nvPr/>
        </p:nvSpPr>
        <p:spPr>
          <a:xfrm>
            <a:off x="581025" y="4271962"/>
            <a:ext cx="5229225" cy="609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500" u="none" cap="none" strike="noStrike">
                <a:solidFill>
                  <a:srgbClr val="94A3B8"/>
                </a:solidFill>
                <a:latin typeface="Urbanist"/>
                <a:ea typeface="Urbanist"/>
                <a:cs typeface="Urbanist"/>
                <a:sym typeface="Urbanist"/>
              </a:rPr>
              <a:t>This creates a hardware saturation event that makes traditional human intervention nearly impossible.</a:t>
            </a:r>
            <a:endParaRPr/>
          </a:p>
        </p:txBody>
      </p:sp>
      <p:pic>
        <p:nvPicPr>
          <p:cNvPr descr="image.png" id="122" name="Google Shape;122;p16"/>
          <p:cNvPicPr preferRelativeResize="0"/>
          <p:nvPr/>
        </p:nvPicPr>
        <p:blipFill rotWithShape="1">
          <a:blip r:embed="rId5">
            <a:alphaModFix/>
          </a:blip>
          <a:srcRect b="0" l="0" r="0" t="0"/>
          <a:stretch/>
        </p:blipFill>
        <p:spPr>
          <a:xfrm>
            <a:off x="6391275" y="1905000"/>
            <a:ext cx="5210175" cy="3981450"/>
          </a:xfrm>
          <a:prstGeom prst="rect">
            <a:avLst/>
          </a:prstGeom>
          <a:noFill/>
          <a:ln>
            <a:noFill/>
          </a:ln>
        </p:spPr>
      </p:pic>
      <p:sp>
        <p:nvSpPr>
          <p:cNvPr id="123" name="Google Shape;123;p16"/>
          <p:cNvSpPr txBox="1"/>
          <p:nvPr/>
        </p:nvSpPr>
        <p:spPr>
          <a:xfrm>
            <a:off x="581025" y="962025"/>
            <a:ext cx="11581447" cy="5524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3600" u="none" cap="none" strike="noStrike">
                <a:solidFill>
                  <a:srgbClr val="CCFF00"/>
                </a:solidFill>
                <a:latin typeface="Urbanist SemiBold"/>
                <a:ea typeface="Urbanist SemiBold"/>
                <a:cs typeface="Urbanist SemiBold"/>
                <a:sym typeface="Urbanist SemiBold"/>
              </a:rPr>
              <a:t>Concurrency as a Weapon</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27" name="Shape 127"/>
        <p:cNvGrpSpPr/>
        <p:nvPr/>
      </p:nvGrpSpPr>
      <p:grpSpPr>
        <a:xfrm>
          <a:off x="0" y="0"/>
          <a:ext cx="0" cy="0"/>
          <a:chOff x="0" y="0"/>
          <a:chExt cx="0" cy="0"/>
        </a:xfrm>
      </p:grpSpPr>
      <p:pic>
        <p:nvPicPr>
          <p:cNvPr descr="image.png" id="128" name="Google Shape;128;p1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9" name="Google Shape;129;p17"/>
          <p:cNvSpPr txBox="1"/>
          <p:nvPr/>
        </p:nvSpPr>
        <p:spPr>
          <a:xfrm>
            <a:off x="2175510" y="2900362"/>
            <a:ext cx="7840980" cy="81915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5400" u="none" cap="none" strike="noStrike">
                <a:solidFill>
                  <a:srgbClr val="F8FAFC"/>
                </a:solidFill>
                <a:latin typeface="Urbanist"/>
                <a:ea typeface="Urbanist"/>
                <a:cs typeface="Urbanist"/>
                <a:sym typeface="Urbanist"/>
              </a:rPr>
              <a:t>Behavioral Methodology</a:t>
            </a:r>
            <a:endParaRPr/>
          </a:p>
        </p:txBody>
      </p:sp>
      <p:sp>
        <p:nvSpPr>
          <p:cNvPr id="130" name="Google Shape;130;p17"/>
          <p:cNvSpPr txBox="1"/>
          <p:nvPr/>
        </p:nvSpPr>
        <p:spPr>
          <a:xfrm>
            <a:off x="2362200" y="3910012"/>
            <a:ext cx="7467600" cy="304800"/>
          </a:xfrm>
          <a:prstGeom prst="rect">
            <a:avLst/>
          </a:prstGeom>
          <a:noFill/>
          <a:ln>
            <a:noFill/>
          </a:ln>
        </p:spPr>
        <p:txBody>
          <a:bodyPr anchorCtr="0" anchor="t" bIns="0" lIns="0" spcFirstLastPara="1" rIns="0" wrap="square" tIns="0">
            <a:spAutoFit/>
          </a:bodyPr>
          <a:lstStyle/>
          <a:p>
            <a:pPr indent="0" lvl="0" marL="0" marR="0" rtl="0" algn="ctr">
              <a:lnSpc>
                <a:spcPct val="160000"/>
              </a:lnSpc>
              <a:spcBef>
                <a:spcPts val="0"/>
              </a:spcBef>
              <a:spcAft>
                <a:spcPts val="0"/>
              </a:spcAft>
              <a:buNone/>
            </a:pPr>
            <a:r>
              <a:rPr b="0" i="0" lang="en-US" sz="1500" u="none" cap="none" strike="noStrike">
                <a:solidFill>
                  <a:srgbClr val="94A3B8"/>
                </a:solidFill>
                <a:latin typeface="Urbanist"/>
                <a:ea typeface="Urbanist"/>
                <a:cs typeface="Urbanist"/>
                <a:sym typeface="Urbanist"/>
              </a:rPr>
              <a:t>Using information theory to detect active loops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34" name="Shape 134"/>
        <p:cNvGrpSpPr/>
        <p:nvPr/>
      </p:nvGrpSpPr>
      <p:grpSpPr>
        <a:xfrm>
          <a:off x="0" y="0"/>
          <a:ext cx="0" cy="0"/>
          <a:chOff x="0" y="0"/>
          <a:chExt cx="0" cy="0"/>
        </a:xfrm>
      </p:grpSpPr>
      <p:pic>
        <p:nvPicPr>
          <p:cNvPr descr="image.png" id="135" name="Google Shape;135;p18"/>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136" name="Google Shape;136;p18"/>
          <p:cNvPicPr preferRelativeResize="0"/>
          <p:nvPr/>
        </p:nvPicPr>
        <p:blipFill rotWithShape="1">
          <a:blip r:embed="rId4">
            <a:alphaModFix/>
          </a:blip>
          <a:srcRect b="0" l="0" r="0" t="0"/>
          <a:stretch/>
        </p:blipFill>
        <p:spPr>
          <a:xfrm>
            <a:off x="581025" y="2738437"/>
            <a:ext cx="5229225" cy="2314575"/>
          </a:xfrm>
          <a:prstGeom prst="rect">
            <a:avLst/>
          </a:prstGeom>
          <a:noFill/>
          <a:ln>
            <a:noFill/>
          </a:ln>
        </p:spPr>
      </p:pic>
      <p:pic>
        <p:nvPicPr>
          <p:cNvPr descr="image.png" id="137" name="Google Shape;137;p18"/>
          <p:cNvPicPr preferRelativeResize="0"/>
          <p:nvPr/>
        </p:nvPicPr>
        <p:blipFill rotWithShape="1">
          <a:blip r:embed="rId4">
            <a:alphaModFix/>
          </a:blip>
          <a:srcRect b="0" l="0" r="0" t="0"/>
          <a:stretch/>
        </p:blipFill>
        <p:spPr>
          <a:xfrm>
            <a:off x="6381750" y="2738437"/>
            <a:ext cx="5229225" cy="2314575"/>
          </a:xfrm>
          <a:prstGeom prst="rect">
            <a:avLst/>
          </a:prstGeom>
          <a:noFill/>
          <a:ln>
            <a:noFill/>
          </a:ln>
        </p:spPr>
      </p:pic>
      <p:sp>
        <p:nvSpPr>
          <p:cNvPr id="138" name="Google Shape;138;p18"/>
          <p:cNvSpPr txBox="1"/>
          <p:nvPr/>
        </p:nvSpPr>
        <p:spPr>
          <a:xfrm>
            <a:off x="971550" y="3128962"/>
            <a:ext cx="4670583" cy="3619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400" u="none" cap="none" strike="noStrike">
                <a:solidFill>
                  <a:srgbClr val="F8FAFC"/>
                </a:solidFill>
                <a:latin typeface="Urbanist"/>
                <a:ea typeface="Urbanist"/>
                <a:cs typeface="Urbanist"/>
                <a:sym typeface="Urbanist"/>
              </a:rPr>
              <a:t>Information Theory</a:t>
            </a:r>
            <a:endParaRPr/>
          </a:p>
        </p:txBody>
      </p:sp>
      <p:sp>
        <p:nvSpPr>
          <p:cNvPr id="139" name="Google Shape;139;p18"/>
          <p:cNvSpPr txBox="1"/>
          <p:nvPr/>
        </p:nvSpPr>
        <p:spPr>
          <a:xfrm>
            <a:off x="971550" y="3605212"/>
            <a:ext cx="4448175" cy="9144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500" u="none" cap="none" strike="noStrike">
                <a:solidFill>
                  <a:srgbClr val="94A3B8"/>
                </a:solidFill>
                <a:latin typeface="Urbanist"/>
                <a:ea typeface="Urbanist"/>
                <a:cs typeface="Urbanist"/>
                <a:sym typeface="Urbanist"/>
              </a:rPr>
              <a:t>Entropy measures the uncertainty of data. Normal documents have predictable patterns while ciphers create randomized byte distributions.</a:t>
            </a:r>
            <a:endParaRPr/>
          </a:p>
        </p:txBody>
      </p:sp>
      <p:sp>
        <p:nvSpPr>
          <p:cNvPr id="140" name="Google Shape;140;p18"/>
          <p:cNvSpPr txBox="1"/>
          <p:nvPr/>
        </p:nvSpPr>
        <p:spPr>
          <a:xfrm>
            <a:off x="6772275" y="3128962"/>
            <a:ext cx="4670583" cy="3619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400" u="none" cap="none" strike="noStrike">
                <a:solidFill>
                  <a:srgbClr val="F8FAFC"/>
                </a:solidFill>
                <a:latin typeface="Urbanist"/>
                <a:ea typeface="Urbanist"/>
                <a:cs typeface="Urbanist"/>
                <a:sym typeface="Urbanist"/>
              </a:rPr>
              <a:t>Real Time Detection</a:t>
            </a:r>
            <a:endParaRPr/>
          </a:p>
        </p:txBody>
      </p:sp>
      <p:sp>
        <p:nvSpPr>
          <p:cNvPr id="141" name="Google Shape;141;p18"/>
          <p:cNvSpPr txBox="1"/>
          <p:nvPr/>
        </p:nvSpPr>
        <p:spPr>
          <a:xfrm>
            <a:off x="6772275" y="3605212"/>
            <a:ext cx="4448175" cy="9144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500" u="none" cap="none" strike="noStrike">
                <a:solidFill>
                  <a:srgbClr val="94A3B8"/>
                </a:solidFill>
                <a:latin typeface="Urbanist"/>
                <a:ea typeface="Urbanist"/>
                <a:cs typeface="Urbanist"/>
                <a:sym typeface="Urbanist"/>
              </a:rPr>
              <a:t>The Python monitor calculates byte probability distribution as files are written to identify active cryptographic footprints.</a:t>
            </a:r>
            <a:endParaRPr/>
          </a:p>
        </p:txBody>
      </p:sp>
      <p:sp>
        <p:nvSpPr>
          <p:cNvPr id="142" name="Google Shape;142;p18"/>
          <p:cNvSpPr txBox="1"/>
          <p:nvPr/>
        </p:nvSpPr>
        <p:spPr>
          <a:xfrm>
            <a:off x="581025" y="1804987"/>
            <a:ext cx="11581447" cy="5524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3600" u="none" cap="none" strike="noStrike">
                <a:solidFill>
                  <a:srgbClr val="CCFF00"/>
                </a:solidFill>
                <a:latin typeface="Urbanist SemiBold"/>
                <a:ea typeface="Urbanist SemiBold"/>
                <a:cs typeface="Urbanist SemiBold"/>
                <a:sym typeface="Urbanist SemiBold"/>
              </a:rPr>
              <a:t>Shannon Entropy Monitoring</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46" name="Shape 146"/>
        <p:cNvGrpSpPr/>
        <p:nvPr/>
      </p:nvGrpSpPr>
      <p:grpSpPr>
        <a:xfrm>
          <a:off x="0" y="0"/>
          <a:ext cx="0" cy="0"/>
          <a:chOff x="0" y="0"/>
          <a:chExt cx="0" cy="0"/>
        </a:xfrm>
      </p:grpSpPr>
      <p:pic>
        <p:nvPicPr>
          <p:cNvPr descr="image.png" id="147" name="Google Shape;147;p1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8" name="Google Shape;148;p19"/>
          <p:cNvSpPr txBox="1"/>
          <p:nvPr/>
        </p:nvSpPr>
        <p:spPr>
          <a:xfrm>
            <a:off x="581025" y="3057525"/>
            <a:ext cx="5229225" cy="16764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None/>
            </a:pPr>
            <a:r>
              <a:rPr b="1" i="0" lang="en-US" sz="16500" u="none" cap="none" strike="noStrike">
                <a:solidFill>
                  <a:srgbClr val="CCFF00"/>
                </a:solidFill>
                <a:latin typeface="Urbanist"/>
                <a:ea typeface="Urbanist"/>
                <a:cs typeface="Urbanist"/>
                <a:sym typeface="Urbanist"/>
              </a:rPr>
              <a:t>8.0</a:t>
            </a:r>
            <a:endParaRPr/>
          </a:p>
        </p:txBody>
      </p:sp>
      <p:sp>
        <p:nvSpPr>
          <p:cNvPr id="149" name="Google Shape;149;p19"/>
          <p:cNvSpPr txBox="1"/>
          <p:nvPr/>
        </p:nvSpPr>
        <p:spPr>
          <a:xfrm>
            <a:off x="6381750" y="2905125"/>
            <a:ext cx="5490686" cy="3619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400" u="none" cap="none" strike="noStrike">
                <a:solidFill>
                  <a:srgbClr val="F8FAFC"/>
                </a:solidFill>
                <a:latin typeface="Urbanist"/>
                <a:ea typeface="Urbanist"/>
                <a:cs typeface="Urbanist"/>
                <a:sym typeface="Urbanist"/>
              </a:rPr>
              <a:t>Maximum Entropy</a:t>
            </a:r>
            <a:endParaRPr/>
          </a:p>
        </p:txBody>
      </p:sp>
      <p:sp>
        <p:nvSpPr>
          <p:cNvPr id="150" name="Google Shape;150;p19"/>
          <p:cNvSpPr txBox="1"/>
          <p:nvPr/>
        </p:nvSpPr>
        <p:spPr>
          <a:xfrm>
            <a:off x="6381750" y="3381375"/>
            <a:ext cx="5229225" cy="609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500" u="none" cap="none" strike="noStrike">
                <a:solidFill>
                  <a:srgbClr val="94A3B8"/>
                </a:solidFill>
                <a:latin typeface="Urbanist"/>
                <a:ea typeface="Urbanist"/>
                <a:cs typeface="Urbanist"/>
                <a:sym typeface="Urbanist"/>
              </a:rPr>
              <a:t>The mathematical limit for an eight bit byte is exactly eight point zero.</a:t>
            </a:r>
            <a:endParaRPr/>
          </a:p>
        </p:txBody>
      </p:sp>
      <p:sp>
        <p:nvSpPr>
          <p:cNvPr id="151" name="Google Shape;151;p19"/>
          <p:cNvSpPr txBox="1"/>
          <p:nvPr/>
        </p:nvSpPr>
        <p:spPr>
          <a:xfrm>
            <a:off x="6381750" y="4133850"/>
            <a:ext cx="5229225" cy="609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500" u="none" cap="none" strike="noStrike">
                <a:solidFill>
                  <a:srgbClr val="94A3B8"/>
                </a:solidFill>
                <a:latin typeface="Urbanist"/>
                <a:ea typeface="Urbanist"/>
                <a:cs typeface="Urbanist"/>
                <a:sym typeface="Urbanist"/>
              </a:rPr>
              <a:t>Data encrypted with AES 256 or ChaCha20 will consistently register between seven point nine five and eight point zero.</a:t>
            </a:r>
            <a:endParaRPr/>
          </a:p>
        </p:txBody>
      </p:sp>
      <p:sp>
        <p:nvSpPr>
          <p:cNvPr id="152" name="Google Shape;152;p19"/>
          <p:cNvSpPr txBox="1"/>
          <p:nvPr/>
        </p:nvSpPr>
        <p:spPr>
          <a:xfrm>
            <a:off x="581025" y="1971675"/>
            <a:ext cx="11581447" cy="5524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3600" u="none" cap="none" strike="noStrike">
                <a:solidFill>
                  <a:srgbClr val="CCFF00"/>
                </a:solidFill>
                <a:latin typeface="Urbanist SemiBold"/>
                <a:ea typeface="Urbanist SemiBold"/>
                <a:cs typeface="Urbanist SemiBold"/>
                <a:sym typeface="Urbanist SemiBold"/>
              </a:rPr>
              <a:t>The Randomness Threshold</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56" name="Shape 156"/>
        <p:cNvGrpSpPr/>
        <p:nvPr/>
      </p:nvGrpSpPr>
      <p:grpSpPr>
        <a:xfrm>
          <a:off x="0" y="0"/>
          <a:ext cx="0" cy="0"/>
          <a:chOff x="0" y="0"/>
          <a:chExt cx="0" cy="0"/>
        </a:xfrm>
      </p:grpSpPr>
      <p:pic>
        <p:nvPicPr>
          <p:cNvPr descr="image.png" id="157" name="Google Shape;157;p20"/>
          <p:cNvPicPr preferRelativeResize="0"/>
          <p:nvPr/>
        </p:nvPicPr>
        <p:blipFill rotWithShape="1">
          <a:blip r:embed="rId3">
            <a:alphaModFix/>
          </a:blip>
          <a:srcRect b="0" l="0" r="0" t="0"/>
          <a:stretch/>
        </p:blipFill>
        <p:spPr>
          <a:xfrm>
            <a:off x="0" y="0"/>
            <a:ext cx="12192000" cy="6858000"/>
          </a:xfrm>
          <a:prstGeom prst="rect">
            <a:avLst/>
          </a:prstGeom>
          <a:noFill/>
          <a:ln>
            <a:noFill/>
          </a:ln>
        </p:spPr>
      </p:pic>
      <p:graphicFrame>
        <p:nvGraphicFramePr>
          <p:cNvPr id="158" name="Google Shape;158;p20"/>
          <p:cNvGraphicFramePr/>
          <p:nvPr/>
        </p:nvGraphicFramePr>
        <p:xfrm>
          <a:off x="2795587" y="1842194"/>
          <a:ext cx="3000000" cy="3000000"/>
        </p:xfrm>
        <a:graphic>
          <a:graphicData uri="http://schemas.openxmlformats.org/drawingml/2006/table">
            <a:tbl>
              <a:tblPr bandRow="1" firstRow="1">
                <a:noFill/>
                <a:tableStyleId>{8612BC06-C8F2-4C54-B171-4750FFAA8043}</a:tableStyleId>
              </a:tblPr>
              <a:tblGrid>
                <a:gridCol w="2114550"/>
                <a:gridCol w="2647950"/>
                <a:gridCol w="1838325"/>
              </a:tblGrid>
              <a:tr h="821400">
                <a:tc>
                  <a:txBody>
                    <a:bodyPr/>
                    <a:lstStyle/>
                    <a:p>
                      <a:pPr indent="0" lvl="0" marL="0" marR="0" rtl="0" algn="l">
                        <a:spcBef>
                          <a:spcPts val="0"/>
                        </a:spcBef>
                        <a:spcAft>
                          <a:spcPts val="0"/>
                        </a:spcAft>
                        <a:buNone/>
                      </a:pPr>
                      <a:r>
                        <a:rPr b="0" i="0" lang="en-US" sz="1650" u="none" cap="none" strike="noStrike">
                          <a:solidFill>
                            <a:srgbClr val="CCFF00"/>
                          </a:solidFill>
                          <a:latin typeface="Urbanist SemiBold"/>
                          <a:ea typeface="Urbanist SemiBold"/>
                          <a:cs typeface="Urbanist SemiBold"/>
                          <a:sym typeface="Urbanist SemiBold"/>
                        </a:rPr>
                        <a:t>Data Format</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650" u="none" cap="none" strike="noStrike">
                          <a:solidFill>
                            <a:srgbClr val="CCFF00"/>
                          </a:solidFill>
                          <a:latin typeface="Urbanist SemiBold"/>
                          <a:ea typeface="Urbanist SemiBold"/>
                          <a:cs typeface="Urbanist SemiBold"/>
                          <a:sym typeface="Urbanist SemiBold"/>
                        </a:rPr>
                        <a:t>Mean Entropy Score</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650" u="none" cap="none" strike="noStrike">
                          <a:solidFill>
                            <a:srgbClr val="CCFF00"/>
                          </a:solidFill>
                          <a:latin typeface="Urbanist SemiBold"/>
                          <a:ea typeface="Urbanist SemiBold"/>
                          <a:cs typeface="Urbanist SemiBold"/>
                          <a:sym typeface="Urbanist SemiBold"/>
                        </a:rPr>
                        <a:t>Alert Status</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821400">
                <a:tc>
                  <a:txBody>
                    <a:bodyPr/>
                    <a:lstStyle/>
                    <a:p>
                      <a:pPr indent="0" lvl="0" marL="0" marR="0" rtl="0" algn="l">
                        <a:spcBef>
                          <a:spcPts val="0"/>
                        </a:spcBef>
                        <a:spcAft>
                          <a:spcPts val="0"/>
                        </a:spcAft>
                        <a:buNone/>
                      </a:pPr>
                      <a:r>
                        <a:rPr b="0" i="0" lang="en-US" sz="1500" u="none" cap="none" strike="noStrike">
                          <a:solidFill>
                            <a:srgbClr val="94A3B8"/>
                          </a:solidFill>
                          <a:latin typeface="Urbanist"/>
                          <a:ea typeface="Urbanist"/>
                          <a:cs typeface="Urbanist"/>
                          <a:sym typeface="Urbanist"/>
                        </a:rPr>
                        <a:t>Plain Text Document</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0F172A"/>
                    </a:solidFill>
                  </a:tcPr>
                </a:tc>
                <a:tc>
                  <a:txBody>
                    <a:bodyPr/>
                    <a:lstStyle/>
                    <a:p>
                      <a:pPr indent="0" lvl="0" marL="0" marR="0" rtl="0" algn="l">
                        <a:spcBef>
                          <a:spcPts val="0"/>
                        </a:spcBef>
                        <a:spcAft>
                          <a:spcPts val="0"/>
                        </a:spcAft>
                        <a:buNone/>
                      </a:pPr>
                      <a:r>
                        <a:rPr b="0" i="0" lang="en-US" sz="1500" u="none" cap="none" strike="noStrike">
                          <a:solidFill>
                            <a:srgbClr val="94A3B8"/>
                          </a:solidFill>
                          <a:latin typeface="Urbanist"/>
                          <a:ea typeface="Urbanist"/>
                          <a:cs typeface="Urbanist"/>
                          <a:sym typeface="Urbanist"/>
                        </a:rPr>
                        <a:t>4.12</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0F172A"/>
                    </a:solidFill>
                  </a:tcPr>
                </a:tc>
                <a:tc>
                  <a:txBody>
                    <a:bodyPr/>
                    <a:lstStyle/>
                    <a:p>
                      <a:pPr indent="0" lvl="0" marL="0" marR="0" rtl="0" algn="l">
                        <a:spcBef>
                          <a:spcPts val="0"/>
                        </a:spcBef>
                        <a:spcAft>
                          <a:spcPts val="0"/>
                        </a:spcAft>
                        <a:buNone/>
                      </a:pPr>
                      <a:r>
                        <a:rPr b="0" i="0" lang="en-US" sz="1500" u="none" cap="none" strike="noStrike">
                          <a:solidFill>
                            <a:srgbClr val="94A3B8"/>
                          </a:solidFill>
                          <a:latin typeface="Urbanist"/>
                          <a:ea typeface="Urbanist"/>
                          <a:cs typeface="Urbanist"/>
                          <a:sym typeface="Urbanist"/>
                        </a:rPr>
                        <a:t>Safe</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0F172A"/>
                    </a:solidFill>
                  </a:tcPr>
                </a:tc>
              </a:tr>
              <a:tr h="821400">
                <a:tc>
                  <a:txBody>
                    <a:bodyPr/>
                    <a:lstStyle/>
                    <a:p>
                      <a:pPr indent="0" lvl="0" marL="0" marR="0" rtl="0" algn="l">
                        <a:spcBef>
                          <a:spcPts val="0"/>
                        </a:spcBef>
                        <a:spcAft>
                          <a:spcPts val="0"/>
                        </a:spcAft>
                        <a:buNone/>
                      </a:pPr>
                      <a:r>
                        <a:rPr b="0" i="0" lang="en-US" sz="1500" u="none" cap="none" strike="noStrike">
                          <a:solidFill>
                            <a:srgbClr val="94A3B8"/>
                          </a:solidFill>
                          <a:latin typeface="Urbanist"/>
                          <a:ea typeface="Urbanist"/>
                          <a:cs typeface="Urbanist"/>
                          <a:sym typeface="Urbanist"/>
                        </a:rPr>
                        <a:t>SQLite Database</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0F172A"/>
                    </a:solidFill>
                  </a:tcPr>
                </a:tc>
                <a:tc>
                  <a:txBody>
                    <a:bodyPr/>
                    <a:lstStyle/>
                    <a:p>
                      <a:pPr indent="0" lvl="0" marL="0" marR="0" rtl="0" algn="l">
                        <a:spcBef>
                          <a:spcPts val="0"/>
                        </a:spcBef>
                        <a:spcAft>
                          <a:spcPts val="0"/>
                        </a:spcAft>
                        <a:buNone/>
                      </a:pPr>
                      <a:r>
                        <a:rPr b="0" i="0" lang="en-US" sz="1500" u="none" cap="none" strike="noStrike">
                          <a:solidFill>
                            <a:srgbClr val="94A3B8"/>
                          </a:solidFill>
                          <a:latin typeface="Urbanist"/>
                          <a:ea typeface="Urbanist"/>
                          <a:cs typeface="Urbanist"/>
                          <a:sym typeface="Urbanist"/>
                        </a:rPr>
                        <a:t>5.45</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0F172A"/>
                    </a:solidFill>
                  </a:tcPr>
                </a:tc>
                <a:tc>
                  <a:txBody>
                    <a:bodyPr/>
                    <a:lstStyle/>
                    <a:p>
                      <a:pPr indent="0" lvl="0" marL="0" marR="0" rtl="0" algn="l">
                        <a:spcBef>
                          <a:spcPts val="0"/>
                        </a:spcBef>
                        <a:spcAft>
                          <a:spcPts val="0"/>
                        </a:spcAft>
                        <a:buNone/>
                      </a:pPr>
                      <a:r>
                        <a:rPr b="0" i="0" lang="en-US" sz="1500" u="none" cap="none" strike="noStrike">
                          <a:solidFill>
                            <a:srgbClr val="94A3B8"/>
                          </a:solidFill>
                          <a:latin typeface="Urbanist"/>
                          <a:ea typeface="Urbanist"/>
                          <a:cs typeface="Urbanist"/>
                          <a:sym typeface="Urbanist"/>
                        </a:rPr>
                        <a:t>Safe</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0F172A"/>
                    </a:solidFill>
                  </a:tcPr>
                </a:tc>
              </a:tr>
              <a:tr h="821400">
                <a:tc>
                  <a:txBody>
                    <a:bodyPr/>
                    <a:lstStyle/>
                    <a:p>
                      <a:pPr indent="0" lvl="0" marL="0" marR="0" rtl="0" algn="l">
                        <a:spcBef>
                          <a:spcPts val="0"/>
                        </a:spcBef>
                        <a:spcAft>
                          <a:spcPts val="0"/>
                        </a:spcAft>
                        <a:buNone/>
                      </a:pPr>
                      <a:r>
                        <a:rPr b="0" i="0" lang="en-US" sz="1500" u="none" cap="none" strike="noStrike">
                          <a:solidFill>
                            <a:srgbClr val="94A3B8"/>
                          </a:solidFill>
                          <a:latin typeface="Urbanist"/>
                          <a:ea typeface="Urbanist"/>
                          <a:cs typeface="Urbanist"/>
                          <a:sym typeface="Urbanist"/>
                        </a:rPr>
                        <a:t>AES 256 Payload</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0F172A"/>
                    </a:solidFill>
                  </a:tcPr>
                </a:tc>
                <a:tc>
                  <a:txBody>
                    <a:bodyPr/>
                    <a:lstStyle/>
                    <a:p>
                      <a:pPr indent="0" lvl="0" marL="0" marR="0" rtl="0" algn="l">
                        <a:spcBef>
                          <a:spcPts val="0"/>
                        </a:spcBef>
                        <a:spcAft>
                          <a:spcPts val="0"/>
                        </a:spcAft>
                        <a:buNone/>
                      </a:pPr>
                      <a:r>
                        <a:rPr b="0" i="0" lang="en-US" sz="1500" u="none" cap="none" strike="noStrike">
                          <a:solidFill>
                            <a:srgbClr val="94A3B8"/>
                          </a:solidFill>
                          <a:latin typeface="Urbanist"/>
                          <a:ea typeface="Urbanist"/>
                          <a:cs typeface="Urbanist"/>
                          <a:sym typeface="Urbanist"/>
                        </a:rPr>
                        <a:t>7.99</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0F172A"/>
                    </a:solidFill>
                  </a:tcPr>
                </a:tc>
                <a:tc>
                  <a:txBody>
                    <a:bodyPr/>
                    <a:lstStyle/>
                    <a:p>
                      <a:pPr indent="0" lvl="0" marL="0" marR="0" rtl="0" algn="l">
                        <a:spcBef>
                          <a:spcPts val="0"/>
                        </a:spcBef>
                        <a:spcAft>
                          <a:spcPts val="0"/>
                        </a:spcAft>
                        <a:buNone/>
                      </a:pPr>
                      <a:r>
                        <a:rPr b="0" i="0" lang="en-US" sz="1500" u="none" cap="none" strike="noStrike">
                          <a:solidFill>
                            <a:srgbClr val="94A3B8"/>
                          </a:solidFill>
                          <a:latin typeface="Urbanist"/>
                          <a:ea typeface="Urbanist"/>
                          <a:cs typeface="Urbanist"/>
                          <a:sym typeface="Urbanist"/>
                        </a:rPr>
                        <a:t>Critical</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0F172A"/>
                    </a:solidFill>
                  </a:tcPr>
                </a:tc>
              </a:tr>
              <a:tr h="821400">
                <a:tc>
                  <a:txBody>
                    <a:bodyPr/>
                    <a:lstStyle/>
                    <a:p>
                      <a:pPr indent="0" lvl="0" marL="0" marR="0" rtl="0" algn="l">
                        <a:spcBef>
                          <a:spcPts val="0"/>
                        </a:spcBef>
                        <a:spcAft>
                          <a:spcPts val="0"/>
                        </a:spcAft>
                        <a:buNone/>
                      </a:pPr>
                      <a:r>
                        <a:rPr b="0" i="0" lang="en-US" sz="1500" u="none" cap="none" strike="noStrike">
                          <a:solidFill>
                            <a:srgbClr val="94A3B8"/>
                          </a:solidFill>
                          <a:latin typeface="Urbanist"/>
                          <a:ea typeface="Urbanist"/>
                          <a:cs typeface="Urbanist"/>
                          <a:sym typeface="Urbanist"/>
                        </a:rPr>
                        <a:t>ChaCha20 Stream</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0F172A"/>
                    </a:solidFill>
                  </a:tcPr>
                </a:tc>
                <a:tc>
                  <a:txBody>
                    <a:bodyPr/>
                    <a:lstStyle/>
                    <a:p>
                      <a:pPr indent="0" lvl="0" marL="0" marR="0" rtl="0" algn="l">
                        <a:spcBef>
                          <a:spcPts val="0"/>
                        </a:spcBef>
                        <a:spcAft>
                          <a:spcPts val="0"/>
                        </a:spcAft>
                        <a:buNone/>
                      </a:pPr>
                      <a:r>
                        <a:rPr b="0" i="0" lang="en-US" sz="1500" u="none" cap="none" strike="noStrike">
                          <a:solidFill>
                            <a:srgbClr val="94A3B8"/>
                          </a:solidFill>
                          <a:latin typeface="Urbanist"/>
                          <a:ea typeface="Urbanist"/>
                          <a:cs typeface="Urbanist"/>
                          <a:sym typeface="Urbanist"/>
                        </a:rPr>
                        <a:t>8.00</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0F172A"/>
                    </a:solidFill>
                  </a:tcPr>
                </a:tc>
                <a:tc>
                  <a:txBody>
                    <a:bodyPr/>
                    <a:lstStyle/>
                    <a:p>
                      <a:pPr indent="0" lvl="0" marL="0" marR="0" rtl="0" algn="l">
                        <a:spcBef>
                          <a:spcPts val="0"/>
                        </a:spcBef>
                        <a:spcAft>
                          <a:spcPts val="0"/>
                        </a:spcAft>
                        <a:buNone/>
                      </a:pPr>
                      <a:r>
                        <a:rPr b="0" i="0" lang="en-US" sz="1500" u="none" cap="none" strike="noStrike">
                          <a:solidFill>
                            <a:srgbClr val="94A3B8"/>
                          </a:solidFill>
                          <a:latin typeface="Urbanist"/>
                          <a:ea typeface="Urbanist"/>
                          <a:cs typeface="Urbanist"/>
                          <a:sym typeface="Urbanist"/>
                        </a:rPr>
                        <a:t>Critical</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0F172A"/>
                    </a:solidFill>
                  </a:tcPr>
                </a:tc>
              </a:tr>
            </a:tbl>
          </a:graphicData>
        </a:graphic>
      </p:graphicFrame>
      <p:sp>
        <p:nvSpPr>
          <p:cNvPr id="159" name="Google Shape;159;p20"/>
          <p:cNvSpPr/>
          <p:nvPr/>
        </p:nvSpPr>
        <p:spPr>
          <a:xfrm>
            <a:off x="2795587" y="3444180"/>
            <a:ext cx="2114550" cy="9525"/>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0" name="Google Shape;160;p20"/>
          <p:cNvSpPr/>
          <p:nvPr/>
        </p:nvSpPr>
        <p:spPr>
          <a:xfrm>
            <a:off x="2795587" y="2748855"/>
            <a:ext cx="2114550" cy="9525"/>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1" name="Google Shape;161;p20"/>
          <p:cNvSpPr/>
          <p:nvPr/>
        </p:nvSpPr>
        <p:spPr>
          <a:xfrm>
            <a:off x="2795587" y="2748855"/>
            <a:ext cx="9525" cy="70485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2" name="Google Shape;162;p20"/>
          <p:cNvSpPr/>
          <p:nvPr/>
        </p:nvSpPr>
        <p:spPr>
          <a:xfrm>
            <a:off x="4910137" y="3444180"/>
            <a:ext cx="2647950" cy="9525"/>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 name="Google Shape;163;p20"/>
          <p:cNvSpPr/>
          <p:nvPr/>
        </p:nvSpPr>
        <p:spPr>
          <a:xfrm>
            <a:off x="4910137" y="2748855"/>
            <a:ext cx="2647950" cy="9525"/>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4" name="Google Shape;164;p20"/>
          <p:cNvSpPr/>
          <p:nvPr/>
        </p:nvSpPr>
        <p:spPr>
          <a:xfrm>
            <a:off x="7558087" y="3444180"/>
            <a:ext cx="1838325" cy="9525"/>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5" name="Google Shape;165;p20"/>
          <p:cNvSpPr/>
          <p:nvPr/>
        </p:nvSpPr>
        <p:spPr>
          <a:xfrm>
            <a:off x="7558087" y="2748855"/>
            <a:ext cx="1838325" cy="9525"/>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6" name="Google Shape;166;p20"/>
          <p:cNvSpPr/>
          <p:nvPr/>
        </p:nvSpPr>
        <p:spPr>
          <a:xfrm>
            <a:off x="9386887" y="2748855"/>
            <a:ext cx="9525" cy="70485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7" name="Google Shape;167;p20"/>
          <p:cNvSpPr/>
          <p:nvPr/>
        </p:nvSpPr>
        <p:spPr>
          <a:xfrm>
            <a:off x="2795587" y="4244280"/>
            <a:ext cx="2114550" cy="9525"/>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8" name="Google Shape;168;p20"/>
          <p:cNvSpPr/>
          <p:nvPr/>
        </p:nvSpPr>
        <p:spPr>
          <a:xfrm>
            <a:off x="2795587" y="3548955"/>
            <a:ext cx="2114550" cy="9525"/>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9" name="Google Shape;169;p20"/>
          <p:cNvSpPr/>
          <p:nvPr/>
        </p:nvSpPr>
        <p:spPr>
          <a:xfrm>
            <a:off x="2795587" y="3548955"/>
            <a:ext cx="9525" cy="70485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0" name="Google Shape;170;p20"/>
          <p:cNvSpPr/>
          <p:nvPr/>
        </p:nvSpPr>
        <p:spPr>
          <a:xfrm>
            <a:off x="4910137" y="4244280"/>
            <a:ext cx="2647950" cy="9525"/>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1" name="Google Shape;171;p20"/>
          <p:cNvSpPr/>
          <p:nvPr/>
        </p:nvSpPr>
        <p:spPr>
          <a:xfrm>
            <a:off x="4910137" y="3548955"/>
            <a:ext cx="2647950" cy="9525"/>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2" name="Google Shape;172;p20"/>
          <p:cNvSpPr/>
          <p:nvPr/>
        </p:nvSpPr>
        <p:spPr>
          <a:xfrm>
            <a:off x="7558087" y="4244280"/>
            <a:ext cx="1838325" cy="9525"/>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3" name="Google Shape;173;p20"/>
          <p:cNvSpPr/>
          <p:nvPr/>
        </p:nvSpPr>
        <p:spPr>
          <a:xfrm>
            <a:off x="7558087" y="3548955"/>
            <a:ext cx="1838325" cy="9525"/>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4" name="Google Shape;174;p20"/>
          <p:cNvSpPr/>
          <p:nvPr/>
        </p:nvSpPr>
        <p:spPr>
          <a:xfrm>
            <a:off x="9386887" y="3548955"/>
            <a:ext cx="9525" cy="70485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 name="Google Shape;175;p20"/>
          <p:cNvSpPr/>
          <p:nvPr/>
        </p:nvSpPr>
        <p:spPr>
          <a:xfrm>
            <a:off x="2795587" y="5044380"/>
            <a:ext cx="2114550" cy="9525"/>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6" name="Google Shape;176;p20"/>
          <p:cNvSpPr/>
          <p:nvPr/>
        </p:nvSpPr>
        <p:spPr>
          <a:xfrm>
            <a:off x="2795587" y="4349055"/>
            <a:ext cx="2114550" cy="9525"/>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7" name="Google Shape;177;p20"/>
          <p:cNvSpPr/>
          <p:nvPr/>
        </p:nvSpPr>
        <p:spPr>
          <a:xfrm>
            <a:off x="2795587" y="4349055"/>
            <a:ext cx="9525" cy="70485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8" name="Google Shape;178;p20"/>
          <p:cNvSpPr/>
          <p:nvPr/>
        </p:nvSpPr>
        <p:spPr>
          <a:xfrm>
            <a:off x="4910137" y="5044380"/>
            <a:ext cx="2647950" cy="9525"/>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9" name="Google Shape;179;p20"/>
          <p:cNvSpPr/>
          <p:nvPr/>
        </p:nvSpPr>
        <p:spPr>
          <a:xfrm>
            <a:off x="4910137" y="4349055"/>
            <a:ext cx="2647950" cy="9525"/>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0" name="Google Shape;180;p20"/>
          <p:cNvSpPr/>
          <p:nvPr/>
        </p:nvSpPr>
        <p:spPr>
          <a:xfrm>
            <a:off x="7558087" y="5044380"/>
            <a:ext cx="1838325" cy="9525"/>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1" name="Google Shape;181;p20"/>
          <p:cNvSpPr/>
          <p:nvPr/>
        </p:nvSpPr>
        <p:spPr>
          <a:xfrm>
            <a:off x="7558087" y="4349055"/>
            <a:ext cx="1838325" cy="9525"/>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2" name="Google Shape;182;p20"/>
          <p:cNvSpPr/>
          <p:nvPr/>
        </p:nvSpPr>
        <p:spPr>
          <a:xfrm>
            <a:off x="9386887" y="4349055"/>
            <a:ext cx="9525" cy="70485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3" name="Google Shape;183;p20"/>
          <p:cNvSpPr/>
          <p:nvPr/>
        </p:nvSpPr>
        <p:spPr>
          <a:xfrm>
            <a:off x="2795587" y="5844480"/>
            <a:ext cx="2114550" cy="9525"/>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4" name="Google Shape;184;p20"/>
          <p:cNvSpPr/>
          <p:nvPr/>
        </p:nvSpPr>
        <p:spPr>
          <a:xfrm>
            <a:off x="2795587" y="5149155"/>
            <a:ext cx="2114550" cy="9525"/>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5" name="Google Shape;185;p20"/>
          <p:cNvSpPr/>
          <p:nvPr/>
        </p:nvSpPr>
        <p:spPr>
          <a:xfrm>
            <a:off x="2795587" y="5149155"/>
            <a:ext cx="9525" cy="70485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6" name="Google Shape;186;p20"/>
          <p:cNvSpPr/>
          <p:nvPr/>
        </p:nvSpPr>
        <p:spPr>
          <a:xfrm>
            <a:off x="4910137" y="5844480"/>
            <a:ext cx="2647950" cy="9525"/>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20"/>
          <p:cNvSpPr/>
          <p:nvPr/>
        </p:nvSpPr>
        <p:spPr>
          <a:xfrm>
            <a:off x="4910137" y="5149155"/>
            <a:ext cx="2647950" cy="9525"/>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8" name="Google Shape;188;p20"/>
          <p:cNvSpPr/>
          <p:nvPr/>
        </p:nvSpPr>
        <p:spPr>
          <a:xfrm>
            <a:off x="7558087" y="5844480"/>
            <a:ext cx="1838325" cy="9525"/>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9" name="Google Shape;189;p20"/>
          <p:cNvSpPr/>
          <p:nvPr/>
        </p:nvSpPr>
        <p:spPr>
          <a:xfrm>
            <a:off x="7558087" y="5149155"/>
            <a:ext cx="1838325" cy="9525"/>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0" name="Google Shape;190;p20"/>
          <p:cNvSpPr/>
          <p:nvPr/>
        </p:nvSpPr>
        <p:spPr>
          <a:xfrm>
            <a:off x="9386887" y="5149155"/>
            <a:ext cx="9525" cy="70485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1" name="Google Shape;191;p20"/>
          <p:cNvSpPr txBox="1"/>
          <p:nvPr/>
        </p:nvSpPr>
        <p:spPr>
          <a:xfrm>
            <a:off x="581025" y="908744"/>
            <a:ext cx="11581447" cy="5524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3600" u="none" cap="none" strike="noStrike">
                <a:solidFill>
                  <a:srgbClr val="CCFF00"/>
                </a:solidFill>
                <a:latin typeface="Urbanist SemiBold"/>
                <a:ea typeface="Urbanist SemiBold"/>
                <a:cs typeface="Urbanist SemiBold"/>
                <a:sym typeface="Urbanist SemiBold"/>
              </a:rPr>
              <a:t>Comparative Entropy Analysis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95" name="Shape 195"/>
        <p:cNvGrpSpPr/>
        <p:nvPr/>
      </p:nvGrpSpPr>
      <p:grpSpPr>
        <a:xfrm>
          <a:off x="0" y="0"/>
          <a:ext cx="0" cy="0"/>
          <a:chOff x="0" y="0"/>
          <a:chExt cx="0" cy="0"/>
        </a:xfrm>
      </p:grpSpPr>
      <p:pic>
        <p:nvPicPr>
          <p:cNvPr descr="image.png" id="196" name="Google Shape;196;p2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97" name="Google Shape;197;p21"/>
          <p:cNvSpPr txBox="1"/>
          <p:nvPr/>
        </p:nvSpPr>
        <p:spPr>
          <a:xfrm>
            <a:off x="2355532" y="2900362"/>
            <a:ext cx="7480935" cy="81915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5400" u="none" cap="none" strike="noStrike">
                <a:solidFill>
                  <a:srgbClr val="F8FAFC"/>
                </a:solidFill>
                <a:latin typeface="Urbanist"/>
                <a:ea typeface="Urbanist"/>
                <a:cs typeface="Urbanist"/>
                <a:sym typeface="Urbanist"/>
              </a:rPr>
              <a:t>Static Analysis Defense</a:t>
            </a:r>
            <a:endParaRPr/>
          </a:p>
        </p:txBody>
      </p:sp>
      <p:sp>
        <p:nvSpPr>
          <p:cNvPr id="198" name="Google Shape;198;p21"/>
          <p:cNvSpPr txBox="1"/>
          <p:nvPr/>
        </p:nvSpPr>
        <p:spPr>
          <a:xfrm>
            <a:off x="2533650" y="3910012"/>
            <a:ext cx="7124700" cy="304800"/>
          </a:xfrm>
          <a:prstGeom prst="rect">
            <a:avLst/>
          </a:prstGeom>
          <a:noFill/>
          <a:ln>
            <a:noFill/>
          </a:ln>
        </p:spPr>
        <p:txBody>
          <a:bodyPr anchorCtr="0" anchor="t" bIns="0" lIns="0" spcFirstLastPara="1" rIns="0" wrap="square" tIns="0">
            <a:spAutoFit/>
          </a:bodyPr>
          <a:lstStyle/>
          <a:p>
            <a:pPr indent="0" lvl="0" marL="0" marR="0" rtl="0" algn="ctr">
              <a:lnSpc>
                <a:spcPct val="160000"/>
              </a:lnSpc>
              <a:spcBef>
                <a:spcPts val="0"/>
              </a:spcBef>
              <a:spcAft>
                <a:spcPts val="0"/>
              </a:spcAft>
              <a:buNone/>
            </a:pPr>
            <a:r>
              <a:rPr b="0" i="0" lang="en-US" sz="1500" u="none" cap="none" strike="noStrike">
                <a:solidFill>
                  <a:srgbClr val="94A3B8"/>
                </a:solidFill>
                <a:latin typeface="Urbanist"/>
                <a:ea typeface="Urbanist"/>
                <a:cs typeface="Urbanist"/>
                <a:sym typeface="Urbanist"/>
              </a:rPr>
              <a:t>Unmasking payloads without symbol tables</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02" name="Shape 202"/>
        <p:cNvGrpSpPr/>
        <p:nvPr/>
      </p:nvGrpSpPr>
      <p:grpSpPr>
        <a:xfrm>
          <a:off x="0" y="0"/>
          <a:ext cx="0" cy="0"/>
          <a:chOff x="0" y="0"/>
          <a:chExt cx="0" cy="0"/>
        </a:xfrm>
      </p:grpSpPr>
      <p:pic>
        <p:nvPicPr>
          <p:cNvPr descr="image.png" id="203" name="Google Shape;203;p2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04" name="Google Shape;204;p22"/>
          <p:cNvSpPr txBox="1"/>
          <p:nvPr/>
        </p:nvSpPr>
        <p:spPr>
          <a:xfrm>
            <a:off x="581025" y="771525"/>
            <a:ext cx="5190648" cy="5524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3600" u="none" cap="none" strike="noStrike">
                <a:solidFill>
                  <a:srgbClr val="CCFF00"/>
                </a:solidFill>
                <a:latin typeface="Urbanist SemiBold"/>
                <a:ea typeface="Urbanist SemiBold"/>
                <a:cs typeface="Urbanist SemiBold"/>
                <a:sym typeface="Urbanist SemiBold"/>
              </a:rPr>
              <a:t>Defeating Stripping</a:t>
            </a:r>
            <a:endParaRPr/>
          </a:p>
        </p:txBody>
      </p:sp>
      <p:pic>
        <p:nvPicPr>
          <p:cNvPr descr="image.png" id="205" name="Google Shape;205;p22"/>
          <p:cNvPicPr preferRelativeResize="0"/>
          <p:nvPr/>
        </p:nvPicPr>
        <p:blipFill rotWithShape="1">
          <a:blip r:embed="rId4">
            <a:alphaModFix/>
          </a:blip>
          <a:srcRect b="0" l="0" r="0" t="0"/>
          <a:stretch/>
        </p:blipFill>
        <p:spPr>
          <a:xfrm>
            <a:off x="6096000" y="9525"/>
            <a:ext cx="6086475" cy="6858000"/>
          </a:xfrm>
          <a:prstGeom prst="rect">
            <a:avLst/>
          </a:prstGeom>
          <a:noFill/>
          <a:ln>
            <a:noFill/>
          </a:ln>
        </p:spPr>
      </p:pic>
      <p:sp>
        <p:nvSpPr>
          <p:cNvPr id="206" name="Google Shape;206;p22"/>
          <p:cNvSpPr txBox="1"/>
          <p:nvPr/>
        </p:nvSpPr>
        <p:spPr>
          <a:xfrm>
            <a:off x="581025" y="1704975"/>
            <a:ext cx="4943475" cy="609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500" u="none" cap="none" strike="noStrike">
                <a:solidFill>
                  <a:srgbClr val="94A3B8"/>
                </a:solidFill>
                <a:latin typeface="Urbanist"/>
                <a:ea typeface="Urbanist"/>
                <a:cs typeface="Urbanist"/>
                <a:sym typeface="Urbanist"/>
              </a:rPr>
              <a:t>Attackers strip symbol tables to hide function names and frustrate incident responders.</a:t>
            </a:r>
            <a:endParaRPr/>
          </a:p>
        </p:txBody>
      </p:sp>
      <p:sp>
        <p:nvSpPr>
          <p:cNvPr id="207" name="Google Shape;207;p22"/>
          <p:cNvSpPr txBox="1"/>
          <p:nvPr/>
        </p:nvSpPr>
        <p:spPr>
          <a:xfrm>
            <a:off x="581025" y="2457450"/>
            <a:ext cx="4943475" cy="609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500" u="none" cap="none" strike="noStrike">
                <a:solidFill>
                  <a:srgbClr val="94A3B8"/>
                </a:solidFill>
                <a:latin typeface="Urbanist"/>
                <a:ea typeface="Urbanist"/>
                <a:cs typeface="Urbanist"/>
                <a:sym typeface="Urbanist"/>
              </a:rPr>
              <a:t>Our analyzer parses the PE headers to find the mandatory Program Counter Line Number Table.</a:t>
            </a:r>
            <a:endParaRPr/>
          </a:p>
        </p:txBody>
      </p:sp>
      <p:sp>
        <p:nvSpPr>
          <p:cNvPr id="208" name="Google Shape;208;p22"/>
          <p:cNvSpPr txBox="1"/>
          <p:nvPr/>
        </p:nvSpPr>
        <p:spPr>
          <a:xfrm>
            <a:off x="581025" y="3209925"/>
            <a:ext cx="4943475" cy="609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500" u="none" cap="none" strike="noStrike">
                <a:solidFill>
                  <a:srgbClr val="94A3B8"/>
                </a:solidFill>
                <a:latin typeface="Urbanist"/>
                <a:ea typeface="Urbanist"/>
                <a:cs typeface="Urbanist"/>
                <a:sym typeface="Urbanist"/>
              </a:rPr>
              <a:t>Locating this structure confirms the Go runtime presence despite aggressive compiler obfuscation.</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12" name="Shape 212"/>
        <p:cNvGrpSpPr/>
        <p:nvPr/>
      </p:nvGrpSpPr>
      <p:grpSpPr>
        <a:xfrm>
          <a:off x="0" y="0"/>
          <a:ext cx="0" cy="0"/>
          <a:chOff x="0" y="0"/>
          <a:chExt cx="0" cy="0"/>
        </a:xfrm>
      </p:grpSpPr>
      <p:pic>
        <p:nvPicPr>
          <p:cNvPr descr="image.png" id="213" name="Google Shape;213;p2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14" name="Google Shape;214;p23"/>
          <p:cNvSpPr/>
          <p:nvPr/>
        </p:nvSpPr>
        <p:spPr>
          <a:xfrm>
            <a:off x="876300" y="4768006"/>
            <a:ext cx="6457950" cy="742950"/>
          </a:xfrm>
          <a:prstGeom prst="roundRect">
            <a:avLst>
              <a:gd fmla="val 15384" name="adj"/>
            </a:avLst>
          </a:prstGeom>
          <a:solidFill>
            <a:srgbClr val="CCFF00"/>
          </a:solidFill>
          <a:ln cap="flat" cmpd="sng" w="9525">
            <a:solidFill>
              <a:srgbClr val="CCFF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5" name="Google Shape;215;p23"/>
          <p:cNvSpPr txBox="1"/>
          <p:nvPr/>
        </p:nvSpPr>
        <p:spPr>
          <a:xfrm>
            <a:off x="1685925" y="4958506"/>
            <a:ext cx="5362575" cy="36195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F8FAFC"/>
                </a:solidFill>
                <a:latin typeface="Urbanist"/>
                <a:ea typeface="Urbanist"/>
                <a:cs typeface="Urbanist"/>
                <a:sym typeface="Urbanist"/>
              </a:rPr>
              <a:t> </a:t>
            </a:r>
            <a:r>
              <a:rPr b="0" i="0" lang="en-US" sz="1200" u="none" cap="none" strike="noStrike">
                <a:solidFill>
                  <a:srgbClr val="F8FAFC"/>
                </a:solidFill>
                <a:latin typeface="Urbanist SemiBold"/>
                <a:ea typeface="Urbanist SemiBold"/>
                <a:cs typeface="Urbanist SemiBold"/>
                <a:sym typeface="Urbanist SemiBold"/>
              </a:rPr>
              <a:t>github.com/howlcipher/cryptography_class_project_02</a:t>
            </a:r>
            <a:endParaRPr/>
          </a:p>
        </p:txBody>
      </p:sp>
      <p:pic>
        <p:nvPicPr>
          <p:cNvPr descr="image.png" id="216" name="Google Shape;216;p23"/>
          <p:cNvPicPr preferRelativeResize="0"/>
          <p:nvPr/>
        </p:nvPicPr>
        <p:blipFill rotWithShape="1">
          <a:blip r:embed="rId4">
            <a:alphaModFix/>
          </a:blip>
          <a:srcRect b="0" l="0" r="0" t="0"/>
          <a:stretch/>
        </p:blipFill>
        <p:spPr>
          <a:xfrm>
            <a:off x="1171575" y="4968031"/>
            <a:ext cx="333375" cy="342900"/>
          </a:xfrm>
          <a:prstGeom prst="rect">
            <a:avLst/>
          </a:prstGeom>
          <a:noFill/>
          <a:ln>
            <a:noFill/>
          </a:ln>
        </p:spPr>
      </p:pic>
      <p:sp>
        <p:nvSpPr>
          <p:cNvPr id="217" name="Google Shape;217;p23"/>
          <p:cNvSpPr txBox="1"/>
          <p:nvPr/>
        </p:nvSpPr>
        <p:spPr>
          <a:xfrm>
            <a:off x="1352550" y="2432744"/>
            <a:ext cx="9963150" cy="365670"/>
          </a:xfrm>
          <a:prstGeom prst="rect">
            <a:avLst/>
          </a:prstGeom>
          <a:noFill/>
          <a:ln>
            <a:noFill/>
          </a:ln>
        </p:spPr>
        <p:txBody>
          <a:bodyPr anchorCtr="0" anchor="t" bIns="0" lIns="0" spcFirstLastPara="1" rIns="0" wrap="square" tIns="0">
            <a:spAutoFit/>
          </a:bodyPr>
          <a:lstStyle/>
          <a:p>
            <a:pPr indent="0" lvl="0" marL="0" marR="0" rtl="0" algn="l">
              <a:lnSpc>
                <a:spcPct val="159944"/>
              </a:lnSpc>
              <a:spcBef>
                <a:spcPts val="0"/>
              </a:spcBef>
              <a:spcAft>
                <a:spcPts val="0"/>
              </a:spcAft>
              <a:buNone/>
            </a:pPr>
            <a:r>
              <a:rPr b="0" i="0" lang="en-US" sz="1800" u="none" cap="none" strike="noStrike">
                <a:solidFill>
                  <a:srgbClr val="94A3B8"/>
                </a:solidFill>
                <a:latin typeface="Urbanist"/>
                <a:ea typeface="Urbanist"/>
                <a:cs typeface="Urbanist"/>
                <a:sym typeface="Urbanist"/>
              </a:rPr>
              <a:t>Utilize the uv environment manager for exceptionally fast dependency resolution and execution.</a:t>
            </a:r>
            <a:endParaRPr/>
          </a:p>
        </p:txBody>
      </p:sp>
      <p:sp>
        <p:nvSpPr>
          <p:cNvPr id="218" name="Google Shape;218;p23"/>
          <p:cNvSpPr txBox="1"/>
          <p:nvPr/>
        </p:nvSpPr>
        <p:spPr>
          <a:xfrm>
            <a:off x="1352550" y="3084165"/>
            <a:ext cx="9963150" cy="365670"/>
          </a:xfrm>
          <a:prstGeom prst="rect">
            <a:avLst/>
          </a:prstGeom>
          <a:noFill/>
          <a:ln>
            <a:noFill/>
          </a:ln>
        </p:spPr>
        <p:txBody>
          <a:bodyPr anchorCtr="0" anchor="t" bIns="0" lIns="0" spcFirstLastPara="1" rIns="0" wrap="square" tIns="0">
            <a:spAutoFit/>
          </a:bodyPr>
          <a:lstStyle/>
          <a:p>
            <a:pPr indent="0" lvl="0" marL="0" marR="0" rtl="0" algn="l">
              <a:lnSpc>
                <a:spcPct val="159944"/>
              </a:lnSpc>
              <a:spcBef>
                <a:spcPts val="0"/>
              </a:spcBef>
              <a:spcAft>
                <a:spcPts val="0"/>
              </a:spcAft>
              <a:buNone/>
            </a:pPr>
            <a:r>
              <a:rPr b="0" i="0" lang="en-US" sz="1800" u="none" cap="none" strike="noStrike">
                <a:solidFill>
                  <a:srgbClr val="94A3B8"/>
                </a:solidFill>
                <a:latin typeface="Urbanist"/>
                <a:ea typeface="Urbanist"/>
                <a:cs typeface="Urbanist"/>
                <a:sym typeface="Urbanist"/>
              </a:rPr>
              <a:t>Leverage SciPy and NumPy for high performance probability calculations and byte array processing.</a:t>
            </a:r>
            <a:endParaRPr/>
          </a:p>
        </p:txBody>
      </p:sp>
      <p:sp>
        <p:nvSpPr>
          <p:cNvPr id="219" name="Google Shape;219;p23"/>
          <p:cNvSpPr txBox="1"/>
          <p:nvPr/>
        </p:nvSpPr>
        <p:spPr>
          <a:xfrm>
            <a:off x="1352550" y="3735585"/>
            <a:ext cx="9963150" cy="365670"/>
          </a:xfrm>
          <a:prstGeom prst="rect">
            <a:avLst/>
          </a:prstGeom>
          <a:noFill/>
          <a:ln>
            <a:noFill/>
          </a:ln>
        </p:spPr>
        <p:txBody>
          <a:bodyPr anchorCtr="0" anchor="t" bIns="0" lIns="0" spcFirstLastPara="1" rIns="0" wrap="square" tIns="0">
            <a:spAutoFit/>
          </a:bodyPr>
          <a:lstStyle/>
          <a:p>
            <a:pPr indent="0" lvl="0" marL="0" marR="0" rtl="0" algn="l">
              <a:lnSpc>
                <a:spcPct val="159944"/>
              </a:lnSpc>
              <a:spcBef>
                <a:spcPts val="0"/>
              </a:spcBef>
              <a:spcAft>
                <a:spcPts val="0"/>
              </a:spcAft>
              <a:buNone/>
            </a:pPr>
            <a:r>
              <a:rPr b="0" i="0" lang="en-US" sz="1800" u="none" cap="none" strike="noStrike">
                <a:solidFill>
                  <a:srgbClr val="94A3B8"/>
                </a:solidFill>
                <a:latin typeface="Urbanist"/>
                <a:ea typeface="Urbanist"/>
                <a:cs typeface="Urbanist"/>
                <a:sym typeface="Urbanist"/>
              </a:rPr>
              <a:t>Maintain centralized configuration via JSON to adjust entropy thresholds without code modification.</a:t>
            </a:r>
            <a:endParaRPr/>
          </a:p>
        </p:txBody>
      </p:sp>
      <p:pic>
        <p:nvPicPr>
          <p:cNvPr descr="image.png" id="220" name="Google Shape;220;p23"/>
          <p:cNvPicPr preferRelativeResize="0"/>
          <p:nvPr/>
        </p:nvPicPr>
        <p:blipFill rotWithShape="1">
          <a:blip r:embed="rId5">
            <a:alphaModFix/>
          </a:blip>
          <a:srcRect b="0" l="0" r="0" t="0"/>
          <a:stretch/>
        </p:blipFill>
        <p:spPr>
          <a:xfrm>
            <a:off x="876300" y="2475607"/>
            <a:ext cx="266700" cy="276225"/>
          </a:xfrm>
          <a:prstGeom prst="rect">
            <a:avLst/>
          </a:prstGeom>
          <a:noFill/>
          <a:ln>
            <a:noFill/>
          </a:ln>
        </p:spPr>
      </p:pic>
      <p:pic>
        <p:nvPicPr>
          <p:cNvPr descr="image.png" id="221" name="Google Shape;221;p23"/>
          <p:cNvPicPr preferRelativeResize="0"/>
          <p:nvPr/>
        </p:nvPicPr>
        <p:blipFill rotWithShape="1">
          <a:blip r:embed="rId6">
            <a:alphaModFix/>
          </a:blip>
          <a:srcRect b="0" l="0" r="0" t="0"/>
          <a:stretch/>
        </p:blipFill>
        <p:spPr>
          <a:xfrm>
            <a:off x="876300" y="3127027"/>
            <a:ext cx="238125" cy="276225"/>
          </a:xfrm>
          <a:prstGeom prst="rect">
            <a:avLst/>
          </a:prstGeom>
          <a:noFill/>
          <a:ln>
            <a:noFill/>
          </a:ln>
        </p:spPr>
      </p:pic>
      <p:pic>
        <p:nvPicPr>
          <p:cNvPr descr="image.png" id="222" name="Google Shape;222;p23"/>
          <p:cNvPicPr preferRelativeResize="0"/>
          <p:nvPr/>
        </p:nvPicPr>
        <p:blipFill rotWithShape="1">
          <a:blip r:embed="rId7">
            <a:alphaModFix/>
          </a:blip>
          <a:srcRect b="0" l="0" r="0" t="0"/>
          <a:stretch/>
        </p:blipFill>
        <p:spPr>
          <a:xfrm>
            <a:off x="876300" y="3778448"/>
            <a:ext cx="200025" cy="276225"/>
          </a:xfrm>
          <a:prstGeom prst="rect">
            <a:avLst/>
          </a:prstGeom>
          <a:noFill/>
          <a:ln>
            <a:noFill/>
          </a:ln>
        </p:spPr>
      </p:pic>
      <p:sp>
        <p:nvSpPr>
          <p:cNvPr id="223" name="Google Shape;223;p23"/>
          <p:cNvSpPr txBox="1"/>
          <p:nvPr/>
        </p:nvSpPr>
        <p:spPr>
          <a:xfrm>
            <a:off x="581025" y="1346894"/>
            <a:ext cx="11581447" cy="5524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3600" u="none" cap="none" strike="noStrike">
                <a:solidFill>
                  <a:srgbClr val="CCFF00"/>
                </a:solidFill>
                <a:latin typeface="Urbanist SemiBold"/>
                <a:ea typeface="Urbanist SemiBold"/>
                <a:cs typeface="Urbanist SemiBold"/>
                <a:sym typeface="Urbanist SemiBold"/>
              </a:rPr>
              <a:t>Technical Deployment</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27" name="Shape 227"/>
        <p:cNvGrpSpPr/>
        <p:nvPr/>
      </p:nvGrpSpPr>
      <p:grpSpPr>
        <a:xfrm>
          <a:off x="0" y="0"/>
          <a:ext cx="0" cy="0"/>
          <a:chOff x="0" y="0"/>
          <a:chExt cx="0" cy="0"/>
        </a:xfrm>
      </p:grpSpPr>
      <p:pic>
        <p:nvPicPr>
          <p:cNvPr descr="image.png" id="228" name="Google Shape;228;p24"/>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229" name="Google Shape;229;p24"/>
          <p:cNvPicPr preferRelativeResize="0"/>
          <p:nvPr/>
        </p:nvPicPr>
        <p:blipFill rotWithShape="1">
          <a:blip r:embed="rId4">
            <a:alphaModFix/>
          </a:blip>
          <a:srcRect b="0" l="0" r="0" t="0"/>
          <a:stretch/>
        </p:blipFill>
        <p:spPr>
          <a:xfrm>
            <a:off x="581025" y="2157412"/>
            <a:ext cx="3486150" cy="3476625"/>
          </a:xfrm>
          <a:prstGeom prst="rect">
            <a:avLst/>
          </a:prstGeom>
          <a:noFill/>
          <a:ln>
            <a:noFill/>
          </a:ln>
        </p:spPr>
      </p:pic>
      <p:pic>
        <p:nvPicPr>
          <p:cNvPr descr="image.png" id="230" name="Google Shape;230;p24"/>
          <p:cNvPicPr preferRelativeResize="0"/>
          <p:nvPr/>
        </p:nvPicPr>
        <p:blipFill rotWithShape="1">
          <a:blip r:embed="rId5">
            <a:alphaModFix/>
          </a:blip>
          <a:srcRect b="0" l="0" r="0" t="0"/>
          <a:stretch/>
        </p:blipFill>
        <p:spPr>
          <a:xfrm>
            <a:off x="4352925" y="2157412"/>
            <a:ext cx="3486150" cy="3476625"/>
          </a:xfrm>
          <a:prstGeom prst="rect">
            <a:avLst/>
          </a:prstGeom>
          <a:noFill/>
          <a:ln>
            <a:noFill/>
          </a:ln>
        </p:spPr>
      </p:pic>
      <p:pic>
        <p:nvPicPr>
          <p:cNvPr descr="image.png" id="231" name="Google Shape;231;p24"/>
          <p:cNvPicPr preferRelativeResize="0"/>
          <p:nvPr/>
        </p:nvPicPr>
        <p:blipFill rotWithShape="1">
          <a:blip r:embed="rId6">
            <a:alphaModFix/>
          </a:blip>
          <a:srcRect b="0" l="0" r="0" t="0"/>
          <a:stretch/>
        </p:blipFill>
        <p:spPr>
          <a:xfrm>
            <a:off x="8124825" y="2157412"/>
            <a:ext cx="3486150" cy="3476625"/>
          </a:xfrm>
          <a:prstGeom prst="rect">
            <a:avLst/>
          </a:prstGeom>
          <a:noFill/>
          <a:ln>
            <a:noFill/>
          </a:ln>
        </p:spPr>
      </p:pic>
      <p:sp>
        <p:nvSpPr>
          <p:cNvPr id="232" name="Google Shape;232;p24"/>
          <p:cNvSpPr txBox="1"/>
          <p:nvPr/>
        </p:nvSpPr>
        <p:spPr>
          <a:xfrm>
            <a:off x="971550" y="3405187"/>
            <a:ext cx="2840355" cy="3619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400" u="none" cap="none" strike="noStrike">
                <a:solidFill>
                  <a:srgbClr val="F8FAFC"/>
                </a:solidFill>
                <a:latin typeface="Urbanist"/>
                <a:ea typeface="Urbanist"/>
                <a:cs typeface="Urbanist"/>
                <a:sym typeface="Urbanist"/>
              </a:rPr>
              <a:t>Extensions</a:t>
            </a:r>
            <a:endParaRPr/>
          </a:p>
        </p:txBody>
      </p:sp>
      <p:sp>
        <p:nvSpPr>
          <p:cNvPr id="233" name="Google Shape;233;p24"/>
          <p:cNvSpPr txBox="1"/>
          <p:nvPr/>
        </p:nvSpPr>
        <p:spPr>
          <a:xfrm>
            <a:off x="971550" y="3881437"/>
            <a:ext cx="2705100" cy="1219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500" u="none" cap="none" strike="noStrike">
                <a:solidFill>
                  <a:srgbClr val="94A3B8"/>
                </a:solidFill>
                <a:latin typeface="Urbanist"/>
                <a:ea typeface="Urbanist"/>
                <a:cs typeface="Urbanist"/>
                <a:sym typeface="Urbanist"/>
              </a:rPr>
              <a:t>Cross reference entropy events with extension changes to identify suspicious renaming activity.</a:t>
            </a:r>
            <a:endParaRPr/>
          </a:p>
        </p:txBody>
      </p:sp>
      <p:sp>
        <p:nvSpPr>
          <p:cNvPr id="234" name="Google Shape;234;p24"/>
          <p:cNvSpPr txBox="1"/>
          <p:nvPr/>
        </p:nvSpPr>
        <p:spPr>
          <a:xfrm>
            <a:off x="4743450" y="3405187"/>
            <a:ext cx="2840355" cy="3619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400" u="none" cap="none" strike="noStrike">
                <a:solidFill>
                  <a:srgbClr val="F8FAFC"/>
                </a:solidFill>
                <a:latin typeface="Urbanist"/>
                <a:ea typeface="Urbanist"/>
                <a:cs typeface="Urbanist"/>
                <a:sym typeface="Urbanist"/>
              </a:rPr>
              <a:t>Velocity</a:t>
            </a:r>
            <a:endParaRPr/>
          </a:p>
        </p:txBody>
      </p:sp>
      <p:sp>
        <p:nvSpPr>
          <p:cNvPr id="235" name="Google Shape;235;p24"/>
          <p:cNvSpPr txBox="1"/>
          <p:nvPr/>
        </p:nvSpPr>
        <p:spPr>
          <a:xfrm>
            <a:off x="4743450" y="3881437"/>
            <a:ext cx="2705100" cy="1219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500" u="none" cap="none" strike="noStrike">
                <a:solidFill>
                  <a:srgbClr val="94A3B8"/>
                </a:solidFill>
                <a:latin typeface="Urbanist"/>
                <a:ea typeface="Urbanist"/>
                <a:cs typeface="Urbanist"/>
                <a:sym typeface="Urbanist"/>
              </a:rPr>
              <a:t>Set minimum write speed limits to distinguish between user compression and concurrent malware loops.</a:t>
            </a:r>
            <a:endParaRPr/>
          </a:p>
        </p:txBody>
      </p:sp>
      <p:sp>
        <p:nvSpPr>
          <p:cNvPr id="236" name="Google Shape;236;p24"/>
          <p:cNvSpPr txBox="1"/>
          <p:nvPr/>
        </p:nvSpPr>
        <p:spPr>
          <a:xfrm>
            <a:off x="8515350" y="3405187"/>
            <a:ext cx="2840355" cy="3619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400" u="none" cap="none" strike="noStrike">
                <a:solidFill>
                  <a:srgbClr val="F8FAFC"/>
                </a:solidFill>
                <a:latin typeface="Urbanist"/>
                <a:ea typeface="Urbanist"/>
                <a:cs typeface="Urbanist"/>
                <a:sym typeface="Urbanist"/>
              </a:rPr>
              <a:t>Layering</a:t>
            </a:r>
            <a:endParaRPr/>
          </a:p>
        </p:txBody>
      </p:sp>
      <p:sp>
        <p:nvSpPr>
          <p:cNvPr id="237" name="Google Shape;237;p24"/>
          <p:cNvSpPr txBox="1"/>
          <p:nvPr/>
        </p:nvSpPr>
        <p:spPr>
          <a:xfrm>
            <a:off x="8515350" y="3881437"/>
            <a:ext cx="2705100" cy="1219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500" u="none" cap="none" strike="noStrike">
                <a:solidFill>
                  <a:srgbClr val="94A3B8"/>
                </a:solidFill>
                <a:latin typeface="Urbanist"/>
                <a:ea typeface="Urbanist"/>
                <a:cs typeface="Urbanist"/>
                <a:sym typeface="Urbanist"/>
              </a:rPr>
              <a:t>Combine mathematical analysis with endpoint signals for a robust multi factor defensive posture.</a:t>
            </a:r>
            <a:endParaRPr/>
          </a:p>
        </p:txBody>
      </p:sp>
      <p:pic>
        <p:nvPicPr>
          <p:cNvPr descr="image.png" id="238" name="Google Shape;238;p24"/>
          <p:cNvPicPr preferRelativeResize="0"/>
          <p:nvPr/>
        </p:nvPicPr>
        <p:blipFill rotWithShape="1">
          <a:blip r:embed="rId7">
            <a:alphaModFix/>
          </a:blip>
          <a:srcRect b="0" l="0" r="0" t="0"/>
          <a:stretch/>
        </p:blipFill>
        <p:spPr>
          <a:xfrm>
            <a:off x="971550" y="2586037"/>
            <a:ext cx="581025" cy="514350"/>
          </a:xfrm>
          <a:prstGeom prst="rect">
            <a:avLst/>
          </a:prstGeom>
          <a:noFill/>
          <a:ln>
            <a:noFill/>
          </a:ln>
        </p:spPr>
      </p:pic>
      <p:pic>
        <p:nvPicPr>
          <p:cNvPr descr="image.png" id="239" name="Google Shape;239;p24"/>
          <p:cNvPicPr preferRelativeResize="0"/>
          <p:nvPr/>
        </p:nvPicPr>
        <p:blipFill rotWithShape="1">
          <a:blip r:embed="rId8">
            <a:alphaModFix/>
          </a:blip>
          <a:srcRect b="0" l="0" r="0" t="0"/>
          <a:stretch/>
        </p:blipFill>
        <p:spPr>
          <a:xfrm>
            <a:off x="4743450" y="2586037"/>
            <a:ext cx="514350" cy="514350"/>
          </a:xfrm>
          <a:prstGeom prst="rect">
            <a:avLst/>
          </a:prstGeom>
          <a:noFill/>
          <a:ln>
            <a:noFill/>
          </a:ln>
        </p:spPr>
      </p:pic>
      <p:pic>
        <p:nvPicPr>
          <p:cNvPr descr="image.png" id="240" name="Google Shape;240;p24"/>
          <p:cNvPicPr preferRelativeResize="0"/>
          <p:nvPr/>
        </p:nvPicPr>
        <p:blipFill rotWithShape="1">
          <a:blip r:embed="rId9">
            <a:alphaModFix/>
          </a:blip>
          <a:srcRect b="0" l="0" r="0" t="0"/>
          <a:stretch/>
        </p:blipFill>
        <p:spPr>
          <a:xfrm>
            <a:off x="8515350" y="2586037"/>
            <a:ext cx="514350" cy="514350"/>
          </a:xfrm>
          <a:prstGeom prst="rect">
            <a:avLst/>
          </a:prstGeom>
          <a:noFill/>
          <a:ln>
            <a:noFill/>
          </a:ln>
        </p:spPr>
      </p:pic>
      <p:sp>
        <p:nvSpPr>
          <p:cNvPr id="241" name="Google Shape;241;p24"/>
          <p:cNvSpPr txBox="1"/>
          <p:nvPr/>
        </p:nvSpPr>
        <p:spPr>
          <a:xfrm>
            <a:off x="581025" y="1223962"/>
            <a:ext cx="11581447" cy="5524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3600" u="none" cap="none" strike="noStrike">
                <a:solidFill>
                  <a:srgbClr val="CCFF00"/>
                </a:solidFill>
                <a:latin typeface="Urbanist SemiBold"/>
                <a:ea typeface="Urbanist SemiBold"/>
                <a:cs typeface="Urbanist SemiBold"/>
                <a:sym typeface="Urbanist SemiBold"/>
              </a:rPr>
              <a:t>Mitigating False Positives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45" name="Shape 245"/>
        <p:cNvGrpSpPr/>
        <p:nvPr/>
      </p:nvGrpSpPr>
      <p:grpSpPr>
        <a:xfrm>
          <a:off x="0" y="0"/>
          <a:ext cx="0" cy="0"/>
          <a:chOff x="0" y="0"/>
          <a:chExt cx="0" cy="0"/>
        </a:xfrm>
      </p:grpSpPr>
      <p:pic>
        <p:nvPicPr>
          <p:cNvPr descr="image.png" id="246" name="Google Shape;246;p25"/>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247" name="Google Shape;247;p25"/>
          <p:cNvPicPr preferRelativeResize="0"/>
          <p:nvPr/>
        </p:nvPicPr>
        <p:blipFill rotWithShape="1">
          <a:blip r:embed="rId4">
            <a:alphaModFix/>
          </a:blip>
          <a:srcRect b="0" l="0" r="0" t="0"/>
          <a:stretch/>
        </p:blipFill>
        <p:spPr>
          <a:xfrm>
            <a:off x="1504950" y="2394644"/>
            <a:ext cx="9182100" cy="3002160"/>
          </a:xfrm>
          <a:prstGeom prst="rect">
            <a:avLst/>
          </a:prstGeom>
          <a:noFill/>
          <a:ln>
            <a:noFill/>
          </a:ln>
        </p:spPr>
      </p:pic>
      <p:sp>
        <p:nvSpPr>
          <p:cNvPr id="248" name="Google Shape;248;p25"/>
          <p:cNvSpPr txBox="1"/>
          <p:nvPr/>
        </p:nvSpPr>
        <p:spPr>
          <a:xfrm>
            <a:off x="581025" y="1461194"/>
            <a:ext cx="11581447" cy="5524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3600" u="none" cap="none" strike="noStrike">
                <a:solidFill>
                  <a:srgbClr val="CCFF00"/>
                </a:solidFill>
                <a:latin typeface="Urbanist SemiBold"/>
                <a:ea typeface="Urbanist SemiBold"/>
                <a:cs typeface="Urbanist SemiBold"/>
                <a:sym typeface="Urbanist SemiBold"/>
              </a:rPr>
              <a:t>Defensive Pipeline Architecture</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52" name="Shape 252"/>
        <p:cNvGrpSpPr/>
        <p:nvPr/>
      </p:nvGrpSpPr>
      <p:grpSpPr>
        <a:xfrm>
          <a:off x="0" y="0"/>
          <a:ext cx="0" cy="0"/>
          <a:chOff x="0" y="0"/>
          <a:chExt cx="0" cy="0"/>
        </a:xfrm>
      </p:grpSpPr>
      <p:pic>
        <p:nvPicPr>
          <p:cNvPr descr="image.png" id="253" name="Google Shape;253;p26"/>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254" name="Google Shape;254;p26"/>
          <p:cNvPicPr preferRelativeResize="0"/>
          <p:nvPr/>
        </p:nvPicPr>
        <p:blipFill rotWithShape="1">
          <a:blip r:embed="rId4">
            <a:alphaModFix/>
          </a:blip>
          <a:srcRect b="0" l="0" r="0" t="0"/>
          <a:stretch/>
        </p:blipFill>
        <p:spPr>
          <a:xfrm>
            <a:off x="2209800" y="2652712"/>
            <a:ext cx="7772400" cy="2486025"/>
          </a:xfrm>
          <a:prstGeom prst="rect">
            <a:avLst/>
          </a:prstGeom>
          <a:noFill/>
          <a:ln>
            <a:noFill/>
          </a:ln>
        </p:spPr>
      </p:pic>
      <p:sp>
        <p:nvSpPr>
          <p:cNvPr id="255" name="Google Shape;255;p26"/>
          <p:cNvSpPr txBox="1"/>
          <p:nvPr/>
        </p:nvSpPr>
        <p:spPr>
          <a:xfrm>
            <a:off x="2209800" y="4691062"/>
            <a:ext cx="7772400" cy="304800"/>
          </a:xfrm>
          <a:prstGeom prst="rect">
            <a:avLst/>
          </a:prstGeom>
          <a:noFill/>
          <a:ln>
            <a:noFill/>
          </a:ln>
        </p:spPr>
        <p:txBody>
          <a:bodyPr anchorCtr="0" anchor="t" bIns="0" lIns="0" spcFirstLastPara="1" rIns="0" wrap="square" tIns="0">
            <a:spAutoFit/>
          </a:bodyPr>
          <a:lstStyle/>
          <a:p>
            <a:pPr indent="0" lvl="0" marL="0" marR="0" rtl="0" algn="ctr">
              <a:lnSpc>
                <a:spcPct val="160000"/>
              </a:lnSpc>
              <a:spcBef>
                <a:spcPts val="0"/>
              </a:spcBef>
              <a:spcAft>
                <a:spcPts val="0"/>
              </a:spcAft>
              <a:buNone/>
            </a:pPr>
            <a:r>
              <a:rPr b="0" i="0" lang="en-US" sz="1500" u="none" cap="none" strike="noStrike">
                <a:solidFill>
                  <a:srgbClr val="CBD5E1"/>
                </a:solidFill>
                <a:latin typeface="Urbanist"/>
                <a:ea typeface="Urbanist"/>
                <a:cs typeface="Urbanist"/>
                <a:sym typeface="Urbanist"/>
              </a:rPr>
              <a:t>Results based on one hundred concurrent encryption test runs against a custom Go payload.</a:t>
            </a:r>
            <a:endParaRPr/>
          </a:p>
        </p:txBody>
      </p:sp>
      <p:sp>
        <p:nvSpPr>
          <p:cNvPr id="256" name="Google Shape;256;p26"/>
          <p:cNvSpPr txBox="1"/>
          <p:nvPr/>
        </p:nvSpPr>
        <p:spPr>
          <a:xfrm>
            <a:off x="581025" y="1719262"/>
            <a:ext cx="11581447" cy="5524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3600" u="none" cap="none" strike="noStrike">
                <a:solidFill>
                  <a:srgbClr val="CCFF00"/>
                </a:solidFill>
                <a:latin typeface="Urbanist SemiBold"/>
                <a:ea typeface="Urbanist SemiBold"/>
                <a:cs typeface="Urbanist SemiBold"/>
                <a:sym typeface="Urbanist SemiBold"/>
              </a:rPr>
              <a:t>Simulation Success Metrics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60" name="Shape 260"/>
        <p:cNvGrpSpPr/>
        <p:nvPr/>
      </p:nvGrpSpPr>
      <p:grpSpPr>
        <a:xfrm>
          <a:off x="0" y="0"/>
          <a:ext cx="0" cy="0"/>
          <a:chOff x="0" y="0"/>
          <a:chExt cx="0" cy="0"/>
        </a:xfrm>
      </p:grpSpPr>
      <p:pic>
        <p:nvPicPr>
          <p:cNvPr descr="image.png" id="261" name="Google Shape;261;p2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62" name="Google Shape;262;p27"/>
          <p:cNvSpPr txBox="1"/>
          <p:nvPr/>
        </p:nvSpPr>
        <p:spPr>
          <a:xfrm>
            <a:off x="3950731" y="2305050"/>
            <a:ext cx="4290536" cy="838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US" sz="6600" u="none" cap="none" strike="noStrike">
                <a:solidFill>
                  <a:srgbClr val="F8FAFC"/>
                </a:solidFill>
                <a:latin typeface="Urbanist"/>
                <a:ea typeface="Urbanist"/>
                <a:cs typeface="Urbanist"/>
                <a:sym typeface="Urbanist"/>
              </a:rPr>
              <a:t>Questions?</a:t>
            </a:r>
            <a:endParaRPr/>
          </a:p>
        </p:txBody>
      </p:sp>
      <p:sp>
        <p:nvSpPr>
          <p:cNvPr id="263" name="Google Shape;263;p27"/>
          <p:cNvSpPr txBox="1"/>
          <p:nvPr/>
        </p:nvSpPr>
        <p:spPr>
          <a:xfrm>
            <a:off x="4052887" y="3143250"/>
            <a:ext cx="4086225" cy="304800"/>
          </a:xfrm>
          <a:prstGeom prst="rect">
            <a:avLst/>
          </a:prstGeom>
          <a:noFill/>
          <a:ln>
            <a:noFill/>
          </a:ln>
        </p:spPr>
        <p:txBody>
          <a:bodyPr anchorCtr="0" anchor="t" bIns="0" lIns="0" spcFirstLastPara="1" rIns="0" wrap="square" tIns="0">
            <a:spAutoFit/>
          </a:bodyPr>
          <a:lstStyle/>
          <a:p>
            <a:pPr indent="0" lvl="0" marL="0" marR="0" rtl="0" algn="ctr">
              <a:lnSpc>
                <a:spcPct val="160000"/>
              </a:lnSpc>
              <a:spcBef>
                <a:spcPts val="0"/>
              </a:spcBef>
              <a:spcAft>
                <a:spcPts val="0"/>
              </a:spcAft>
              <a:buNone/>
            </a:pPr>
            <a:r>
              <a:rPr b="0" i="0" lang="en-US" sz="1500" u="none" cap="none" strike="noStrike">
                <a:solidFill>
                  <a:srgbClr val="94A3B8"/>
                </a:solidFill>
                <a:latin typeface="Urbanist"/>
                <a:ea typeface="Urbanist"/>
                <a:cs typeface="Urbanist"/>
                <a:sym typeface="Urbanist"/>
              </a:rPr>
              <a:t>Unmasking Go Ransomware Defensive Pipeline</a:t>
            </a:r>
            <a:endParaRPr/>
          </a:p>
        </p:txBody>
      </p:sp>
      <p:sp>
        <p:nvSpPr>
          <p:cNvPr id="264" name="Google Shape;264;p27"/>
          <p:cNvSpPr txBox="1"/>
          <p:nvPr/>
        </p:nvSpPr>
        <p:spPr>
          <a:xfrm>
            <a:off x="4052887" y="3829050"/>
            <a:ext cx="4086300" cy="36930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i="0" lang="en-US" sz="1200" u="none" cap="none" strike="noStrike">
                <a:solidFill>
                  <a:srgbClr val="CCFF00"/>
                </a:solidFill>
                <a:latin typeface="Urbanist SemiBold"/>
                <a:ea typeface="Urbanist SemiBold"/>
                <a:cs typeface="Urbanist SemiBold"/>
                <a:sym typeface="Urbanist SemiBold"/>
              </a:rPr>
              <a:t>William Elias | contact@</a:t>
            </a:r>
            <a:r>
              <a:rPr lang="en-US" sz="1200">
                <a:solidFill>
                  <a:srgbClr val="CCFF00"/>
                </a:solidFill>
                <a:latin typeface="Urbanist SemiBold"/>
                <a:ea typeface="Urbanist SemiBold"/>
                <a:cs typeface="Urbanist SemiBold"/>
                <a:sym typeface="Urbanist SemiBold"/>
              </a:rPr>
              <a:t>William.Elias@trojans.dsu.edu</a:t>
            </a:r>
            <a:r>
              <a:rPr b="0" i="0" lang="en-US" sz="1200" u="none" cap="none" strike="noStrike">
                <a:solidFill>
                  <a:srgbClr val="F8FAFC"/>
                </a:solidFill>
                <a:latin typeface="Urbanist"/>
                <a:ea typeface="Urbanist"/>
                <a:cs typeface="Urbanist"/>
                <a:sym typeface="Urbanist"/>
              </a:rPr>
              <a:t>  howlcipher/cryptography_class_project_02 </a:t>
            </a:r>
            <a:endParaRPr/>
          </a:p>
        </p:txBody>
      </p:sp>
      <p:pic>
        <p:nvPicPr>
          <p:cNvPr descr="image.png" id="265" name="Google Shape;265;p27"/>
          <p:cNvPicPr preferRelativeResize="0"/>
          <p:nvPr/>
        </p:nvPicPr>
        <p:blipFill rotWithShape="1">
          <a:blip r:embed="rId4">
            <a:alphaModFix/>
          </a:blip>
          <a:srcRect b="0" l="0" r="0" t="0"/>
          <a:stretch/>
        </p:blipFill>
        <p:spPr>
          <a:xfrm>
            <a:off x="4052887" y="4329112"/>
            <a:ext cx="180975" cy="19050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69" name="Shape 269"/>
        <p:cNvGrpSpPr/>
        <p:nvPr/>
      </p:nvGrpSpPr>
      <p:grpSpPr>
        <a:xfrm>
          <a:off x="0" y="0"/>
          <a:ext cx="0" cy="0"/>
          <a:chOff x="0" y="0"/>
          <a:chExt cx="0" cy="0"/>
        </a:xfrm>
      </p:grpSpPr>
      <p:pic>
        <p:nvPicPr>
          <p:cNvPr descr="image.png" id="270" name="Google Shape;270;p2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71" name="Google Shape;271;p28"/>
          <p:cNvSpPr/>
          <p:nvPr/>
        </p:nvSpPr>
        <p:spPr>
          <a:xfrm>
            <a:off x="1881187" y="3115716"/>
            <a:ext cx="8429625" cy="78477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2" name="Google Shape;272;p28"/>
          <p:cNvSpPr/>
          <p:nvPr/>
        </p:nvSpPr>
        <p:spPr>
          <a:xfrm>
            <a:off x="1881187" y="3890962"/>
            <a:ext cx="8429625" cy="9525"/>
          </a:xfrm>
          <a:prstGeom prst="rect">
            <a:avLst/>
          </a:prstGeom>
          <a:solidFill>
            <a:srgbClr val="75757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3" name="Google Shape;273;p28"/>
          <p:cNvSpPr/>
          <p:nvPr/>
        </p:nvSpPr>
        <p:spPr>
          <a:xfrm>
            <a:off x="1881187" y="3890962"/>
            <a:ext cx="8429625" cy="9525"/>
          </a:xfrm>
          <a:prstGeom prst="rect">
            <a:avLst/>
          </a:prstGeom>
          <a:solidFill>
            <a:srgbClr val="75757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image.png" id="274" name="Google Shape;274;p28"/>
          <p:cNvPicPr preferRelativeResize="0"/>
          <p:nvPr/>
        </p:nvPicPr>
        <p:blipFill rotWithShape="1">
          <a:blip r:embed="rId4">
            <a:alphaModFix/>
          </a:blip>
          <a:srcRect b="0" l="0" r="0" t="0"/>
          <a:stretch/>
        </p:blipFill>
        <p:spPr>
          <a:xfrm>
            <a:off x="1881187" y="3265140"/>
            <a:ext cx="857250" cy="476250"/>
          </a:xfrm>
          <a:prstGeom prst="rect">
            <a:avLst/>
          </a:prstGeom>
          <a:noFill/>
          <a:ln>
            <a:noFill/>
          </a:ln>
        </p:spPr>
      </p:pic>
      <p:sp>
        <p:nvSpPr>
          <p:cNvPr id="275" name="Google Shape;275;p28"/>
          <p:cNvSpPr txBox="1"/>
          <p:nvPr/>
        </p:nvSpPr>
        <p:spPr>
          <a:xfrm>
            <a:off x="2976562" y="3258591"/>
            <a:ext cx="7334250" cy="19809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975" u="none" cap="none" strike="noStrike">
                <a:solidFill>
                  <a:srgbClr val="94A3B8"/>
                </a:solidFill>
                <a:latin typeface="Urbanist"/>
                <a:ea typeface="Urbanist"/>
                <a:cs typeface="Urbanist"/>
                <a:sym typeface="Urbanist"/>
              </a:rPr>
              <a:t>https://images.stockcake.com/public/b/6/c/b6c9edb3-845a-4050-8f8a-9e6478418abb_large/digital-data-stream-stockcake.jpg</a:t>
            </a:r>
            <a:endParaRPr/>
          </a:p>
        </p:txBody>
      </p:sp>
      <p:sp>
        <p:nvSpPr>
          <p:cNvPr id="276" name="Google Shape;276;p28"/>
          <p:cNvSpPr txBox="1"/>
          <p:nvPr/>
        </p:nvSpPr>
        <p:spPr>
          <a:xfrm>
            <a:off x="2976562" y="3504307"/>
            <a:ext cx="7334250" cy="24378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200" u="none" cap="none" strike="noStrike">
                <a:solidFill>
                  <a:srgbClr val="94A3B8"/>
                </a:solidFill>
                <a:latin typeface="Urbanist"/>
                <a:ea typeface="Urbanist"/>
                <a:cs typeface="Urbanist"/>
                <a:sym typeface="Urbanist"/>
              </a:rPr>
              <a:t>Source: </a:t>
            </a:r>
            <a:r>
              <a:rPr b="0" i="0" lang="en-US" sz="1200" u="none" cap="none" strike="noStrike">
                <a:solidFill>
                  <a:srgbClr val="4F46E5"/>
                </a:solidFill>
                <a:latin typeface="Urbanist"/>
                <a:ea typeface="Urbanist"/>
                <a:cs typeface="Urbanist"/>
                <a:sym typeface="Urbanist"/>
              </a:rPr>
              <a:t>stockcake.com</a:t>
            </a:r>
            <a:endParaRPr/>
          </a:p>
        </p:txBody>
      </p:sp>
      <p:pic>
        <p:nvPicPr>
          <p:cNvPr descr="image.png" id="277" name="Google Shape;277;p28"/>
          <p:cNvPicPr preferRelativeResize="0"/>
          <p:nvPr/>
        </p:nvPicPr>
        <p:blipFill rotWithShape="1">
          <a:blip r:embed="rId5">
            <a:alphaModFix/>
          </a:blip>
          <a:srcRect b="0" l="0" r="0" t="0"/>
          <a:stretch/>
        </p:blipFill>
        <p:spPr>
          <a:xfrm>
            <a:off x="1881187" y="4049910"/>
            <a:ext cx="857250" cy="476250"/>
          </a:xfrm>
          <a:prstGeom prst="rect">
            <a:avLst/>
          </a:prstGeom>
          <a:noFill/>
          <a:ln>
            <a:noFill/>
          </a:ln>
        </p:spPr>
      </p:pic>
      <p:sp>
        <p:nvSpPr>
          <p:cNvPr id="278" name="Google Shape;278;p28"/>
          <p:cNvSpPr txBox="1"/>
          <p:nvPr/>
        </p:nvSpPr>
        <p:spPr>
          <a:xfrm>
            <a:off x="2976562" y="4043362"/>
            <a:ext cx="7334250" cy="19809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975" u="none" cap="none" strike="noStrike">
                <a:solidFill>
                  <a:srgbClr val="94A3B8"/>
                </a:solidFill>
                <a:latin typeface="Urbanist"/>
                <a:ea typeface="Urbanist"/>
                <a:cs typeface="Urbanist"/>
                <a:sym typeface="Urbanist"/>
              </a:rPr>
              <a:t>https://netnam.com/hs-fs/hubfs/Blog%20Image%20-%20Optimized/Dashboard.png?width=1280&amp;height=1108&amp;name=Dashboard.png</a:t>
            </a:r>
            <a:endParaRPr/>
          </a:p>
        </p:txBody>
      </p:sp>
      <p:sp>
        <p:nvSpPr>
          <p:cNvPr id="279" name="Google Shape;279;p28"/>
          <p:cNvSpPr txBox="1"/>
          <p:nvPr/>
        </p:nvSpPr>
        <p:spPr>
          <a:xfrm>
            <a:off x="2976562" y="4289077"/>
            <a:ext cx="7334250" cy="24378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200" u="none" cap="none" strike="noStrike">
                <a:solidFill>
                  <a:srgbClr val="94A3B8"/>
                </a:solidFill>
                <a:latin typeface="Urbanist"/>
                <a:ea typeface="Urbanist"/>
                <a:cs typeface="Urbanist"/>
                <a:sym typeface="Urbanist"/>
              </a:rPr>
              <a:t>Source: </a:t>
            </a:r>
            <a:r>
              <a:rPr b="0" i="0" lang="en-US" sz="1200" u="none" cap="none" strike="noStrike">
                <a:solidFill>
                  <a:srgbClr val="4F46E5"/>
                </a:solidFill>
                <a:latin typeface="Urbanist"/>
                <a:ea typeface="Urbanist"/>
                <a:cs typeface="Urbanist"/>
                <a:sym typeface="Urbanist"/>
              </a:rPr>
              <a:t>netnam.com</a:t>
            </a:r>
            <a:endParaRPr/>
          </a:p>
        </p:txBody>
      </p:sp>
      <p:sp>
        <p:nvSpPr>
          <p:cNvPr id="280" name="Google Shape;280;p28"/>
          <p:cNvSpPr txBox="1"/>
          <p:nvPr/>
        </p:nvSpPr>
        <p:spPr>
          <a:xfrm>
            <a:off x="581025" y="2182266"/>
            <a:ext cx="11581447" cy="5524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3600" u="none" cap="none" strike="noStrike">
                <a:solidFill>
                  <a:srgbClr val="CCFF00"/>
                </a:solidFill>
                <a:latin typeface="Urbanist SemiBold"/>
                <a:ea typeface="Urbanist SemiBold"/>
                <a:cs typeface="Urbanist SemiBold"/>
                <a:sym typeface="Urbanist SemiBold"/>
              </a:rPr>
              <a:t>Image Sources</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