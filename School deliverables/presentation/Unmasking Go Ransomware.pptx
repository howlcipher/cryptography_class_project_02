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6858000" cx="12192000"/>
  <p:notesSz cx="6858000" cy="9144000"/>
  <p:embeddedFontLst>
    <p:embeddedFont>
      <p:font typeface="Urbanist SemiBold"/>
      <p:regular r:id="rId23"/>
      <p:bold r:id="rId24"/>
      <p:italic r:id="rId25"/>
      <p:boldItalic r:id="rId26"/>
    </p:embeddedFont>
    <p:embeddedFont>
      <p:font typeface="Urbanist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66AAD9-A6F4-4AE0-A7E8-BD68966AC5FF}">
  <a:tblStyle styleId="{5A66AAD9-A6F4-4AE0-A7E8-BD68966AC5F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UrbanistSemiBold-bold.fntdata"/><Relationship Id="rId23" Type="http://schemas.openxmlformats.org/officeDocument/2006/relationships/font" Target="fonts/UrbanistSemiBold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UrbanistSemiBold-boldItalic.fntdata"/><Relationship Id="rId25" Type="http://schemas.openxmlformats.org/officeDocument/2006/relationships/font" Target="fonts/UrbanistSemiBold-italic.fntdata"/><Relationship Id="rId28" Type="http://schemas.openxmlformats.org/officeDocument/2006/relationships/font" Target="fonts/Urbanist-bold.fntdata"/><Relationship Id="rId27" Type="http://schemas.openxmlformats.org/officeDocument/2006/relationships/font" Target="fonts/Urbanist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Urbanist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Urbanist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Relationship Id="rId6" Type="http://schemas.openxmlformats.org/officeDocument/2006/relationships/image" Target="../media/image19.png"/><Relationship Id="rId7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20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15.png"/><Relationship Id="rId8" Type="http://schemas.openxmlformats.org/officeDocument/2006/relationships/image" Target="../media/image2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3.png"/><Relationship Id="rId4" Type="http://schemas.openxmlformats.org/officeDocument/2006/relationships/image" Target="../media/image2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25328" y="2412652"/>
            <a:ext cx="10741342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Unmasking </a:t>
            </a:r>
            <a:r>
              <a:rPr b="1" i="0" lang="en-US" sz="6600" u="none" cap="none" strike="noStrike">
                <a:solidFill>
                  <a:srgbClr val="CCFF00"/>
                </a:solidFill>
                <a:latin typeface="Urbanist"/>
                <a:ea typeface="Urbanist"/>
                <a:cs typeface="Urbanist"/>
                <a:sym typeface="Urbanist"/>
              </a:rPr>
              <a:t>Go</a:t>
            </a:r>
            <a:r>
              <a:rPr b="1" i="0" lang="en-US" sz="66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Ransomware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981075" y="3488977"/>
            <a:ext cx="10230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Python Based Defensive Tooling for Advanced Payloads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81075" y="3936652"/>
            <a:ext cx="102298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William Elias | INFA 723 Project Presentation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2440543" y="2900362"/>
            <a:ext cx="7310913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The Threat Landscape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2614612" y="3910012"/>
            <a:ext cx="6962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Understanding the shift in extortion architecture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57412"/>
            <a:ext cx="3486150" cy="3476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157412"/>
            <a:ext cx="3486150" cy="3476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157412"/>
            <a:ext cx="3486150" cy="3476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/>
          <p:nvPr/>
        </p:nvSpPr>
        <p:spPr>
          <a:xfrm>
            <a:off x="971550" y="3405187"/>
            <a:ext cx="284035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Cross Platform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971550" y="3881437"/>
            <a:ext cx="27051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One unified codebase targets Windows Linux and hypervisors simultaneously through native compilation.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4743450" y="3405187"/>
            <a:ext cx="284035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Concurrency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4743450" y="3881437"/>
            <a:ext cx="27051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Native goroutines enable massive parallel encryption loops that overwhelm host system resources.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8515350" y="3405187"/>
            <a:ext cx="284035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Static Linking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8515350" y="3881437"/>
            <a:ext cx="27051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Binaries are self contained blobs that bypass dependency checks and frustrate traditional analysis.</a:t>
            </a:r>
            <a:endParaRPr/>
          </a:p>
        </p:txBody>
      </p:sp>
      <p:pic>
        <p:nvPicPr>
          <p:cNvPr descr="image.png" id="109" name="Google Shape;10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71550" y="2586037"/>
            <a:ext cx="447675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43450" y="2586037"/>
            <a:ext cx="390525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15350" y="2586037"/>
            <a:ext cx="51435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581025" y="1223962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Strategic Shift in Architecture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7" name="Google Shape;11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895475"/>
            <a:ext cx="5229225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6"/>
          <p:cNvSpPr txBox="1"/>
          <p:nvPr/>
        </p:nvSpPr>
        <p:spPr>
          <a:xfrm>
            <a:off x="581025" y="27670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Modern payloads leverage Go internal scheduling to manage thousands of lightweight execution units.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581025" y="3519487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Instead of sequential encryption the payload assigns a goroutine to every discovered file instantly.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1025" y="427196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This creates a hardware saturation event that makes traditional human intervention nearly impossible.</a:t>
            </a:r>
            <a:endParaRPr/>
          </a:p>
        </p:txBody>
      </p:sp>
      <p:pic>
        <p:nvPicPr>
          <p:cNvPr descr="image.png" id="122" name="Google Shape;122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91275" y="1905000"/>
            <a:ext cx="521017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581025" y="962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Concurrency as a Weapon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8" name="Google Shape;12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2175510" y="2900362"/>
            <a:ext cx="7840980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Behavioral Methodology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2362200" y="3910012"/>
            <a:ext cx="7467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Using information theory to detect active loops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5" name="Google Shape;13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738437"/>
            <a:ext cx="5229225" cy="2314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2738437"/>
            <a:ext cx="5229225" cy="23145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 txBox="1"/>
          <p:nvPr/>
        </p:nvSpPr>
        <p:spPr>
          <a:xfrm>
            <a:off x="971550" y="3128962"/>
            <a:ext cx="467058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Information Theory</a:t>
            </a:r>
            <a:endParaRPr/>
          </a:p>
        </p:txBody>
      </p:sp>
      <p:sp>
        <p:nvSpPr>
          <p:cNvPr id="139" name="Google Shape;139;p18"/>
          <p:cNvSpPr txBox="1"/>
          <p:nvPr/>
        </p:nvSpPr>
        <p:spPr>
          <a:xfrm>
            <a:off x="971550" y="3605212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Entropy measures the uncertainty of data. Normal documents have predictable patterns while ciphers create randomized byte distributions.</a:t>
            </a:r>
            <a:endParaRPr/>
          </a:p>
        </p:txBody>
      </p:sp>
      <p:sp>
        <p:nvSpPr>
          <p:cNvPr id="140" name="Google Shape;140;p18"/>
          <p:cNvSpPr txBox="1"/>
          <p:nvPr/>
        </p:nvSpPr>
        <p:spPr>
          <a:xfrm>
            <a:off x="6772275" y="3128962"/>
            <a:ext cx="467058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Real Time Detection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6772275" y="3605212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The Python monitor calculates byte probability distribution as files are written to identify active cryptographic footprints.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581025" y="1804987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Shannon Entropy Monitoring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7" name="Google Shape;14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9"/>
          <p:cNvSpPr txBox="1"/>
          <p:nvPr/>
        </p:nvSpPr>
        <p:spPr>
          <a:xfrm>
            <a:off x="581025" y="3057525"/>
            <a:ext cx="5229225" cy="16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0" u="none" cap="none" strike="noStrike">
                <a:solidFill>
                  <a:srgbClr val="CCFF00"/>
                </a:solidFill>
                <a:latin typeface="Urbanist"/>
                <a:ea typeface="Urbanist"/>
                <a:cs typeface="Urbanist"/>
                <a:sym typeface="Urbanist"/>
              </a:rPr>
              <a:t>8.0</a:t>
            </a:r>
            <a:endParaRPr/>
          </a:p>
        </p:txBody>
      </p:sp>
      <p:sp>
        <p:nvSpPr>
          <p:cNvPr id="149" name="Google Shape;149;p19"/>
          <p:cNvSpPr txBox="1"/>
          <p:nvPr/>
        </p:nvSpPr>
        <p:spPr>
          <a:xfrm>
            <a:off x="6381750" y="2905125"/>
            <a:ext cx="5490686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Maximum Entropy</a:t>
            </a:r>
            <a:endParaRPr/>
          </a:p>
        </p:txBody>
      </p:sp>
      <p:sp>
        <p:nvSpPr>
          <p:cNvPr id="150" name="Google Shape;150;p19"/>
          <p:cNvSpPr txBox="1"/>
          <p:nvPr/>
        </p:nvSpPr>
        <p:spPr>
          <a:xfrm>
            <a:off x="6381750" y="3381375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The mathematical limit for an eight bit byte is exactly eight point zero.</a:t>
            </a:r>
            <a:endParaRPr/>
          </a:p>
        </p:txBody>
      </p:sp>
      <p:sp>
        <p:nvSpPr>
          <p:cNvPr id="151" name="Google Shape;151;p19"/>
          <p:cNvSpPr txBox="1"/>
          <p:nvPr/>
        </p:nvSpPr>
        <p:spPr>
          <a:xfrm>
            <a:off x="6381750" y="4133850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Data encrypted with AES 256 or ChaCha20 will consistently register between seven point nine five and eight point zero.</a:t>
            </a:r>
            <a:endParaRPr/>
          </a:p>
        </p:txBody>
      </p:sp>
      <p:sp>
        <p:nvSpPr>
          <p:cNvPr id="152" name="Google Shape;152;p19"/>
          <p:cNvSpPr txBox="1"/>
          <p:nvPr/>
        </p:nvSpPr>
        <p:spPr>
          <a:xfrm>
            <a:off x="581025" y="197167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The Randomness Threshold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7" name="Google Shape;15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8" name="Google Shape;158;p20"/>
          <p:cNvGraphicFramePr/>
          <p:nvPr/>
        </p:nvGraphicFramePr>
        <p:xfrm>
          <a:off x="2795587" y="184219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{5A66AAD9-A6F4-4AE0-A7E8-BD68966AC5FF}</a:tableStyleId>
              </a:tblPr>
              <a:tblGrid>
                <a:gridCol w="2114550"/>
                <a:gridCol w="2647950"/>
                <a:gridCol w="1838325"/>
              </a:tblGrid>
              <a:tr h="821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50" u="none" cap="none" strike="noStrike">
                          <a:solidFill>
                            <a:srgbClr val="CCFF00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Data Format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50" u="none" cap="none" strike="noStrike">
                          <a:solidFill>
                            <a:srgbClr val="CCFF00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Mean Entropy 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50" u="none" cap="none" strike="noStrike">
                          <a:solidFill>
                            <a:srgbClr val="CCFF00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Alert Status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1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Plain Text Document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4.12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Safe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821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SQLite Database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5.45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Safe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821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AES 256 Payload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7.99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Critical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821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ChaCha20 Stream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8.00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Critical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59" name="Google Shape;159;p20"/>
          <p:cNvSpPr/>
          <p:nvPr/>
        </p:nvSpPr>
        <p:spPr>
          <a:xfrm>
            <a:off x="2795587" y="3444180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2795587" y="2748855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0"/>
          <p:cNvSpPr/>
          <p:nvPr/>
        </p:nvSpPr>
        <p:spPr>
          <a:xfrm>
            <a:off x="2795587" y="27488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0"/>
          <p:cNvSpPr/>
          <p:nvPr/>
        </p:nvSpPr>
        <p:spPr>
          <a:xfrm>
            <a:off x="4910137" y="3444180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0"/>
          <p:cNvSpPr/>
          <p:nvPr/>
        </p:nvSpPr>
        <p:spPr>
          <a:xfrm>
            <a:off x="4910137" y="2748855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7558087" y="3444180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7558087" y="2748855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0"/>
          <p:cNvSpPr/>
          <p:nvPr/>
        </p:nvSpPr>
        <p:spPr>
          <a:xfrm>
            <a:off x="9386887" y="27488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2795587" y="4244280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2795587" y="3548955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0"/>
          <p:cNvSpPr/>
          <p:nvPr/>
        </p:nvSpPr>
        <p:spPr>
          <a:xfrm>
            <a:off x="2795587" y="35489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0"/>
          <p:cNvSpPr/>
          <p:nvPr/>
        </p:nvSpPr>
        <p:spPr>
          <a:xfrm>
            <a:off x="4910137" y="4244280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0"/>
          <p:cNvSpPr/>
          <p:nvPr/>
        </p:nvSpPr>
        <p:spPr>
          <a:xfrm>
            <a:off x="4910137" y="3548955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0"/>
          <p:cNvSpPr/>
          <p:nvPr/>
        </p:nvSpPr>
        <p:spPr>
          <a:xfrm>
            <a:off x="7558087" y="4244280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0"/>
          <p:cNvSpPr/>
          <p:nvPr/>
        </p:nvSpPr>
        <p:spPr>
          <a:xfrm>
            <a:off x="7558087" y="3548955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0"/>
          <p:cNvSpPr/>
          <p:nvPr/>
        </p:nvSpPr>
        <p:spPr>
          <a:xfrm>
            <a:off x="9386887" y="35489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2795587" y="5044380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/>
          <p:nvPr/>
        </p:nvSpPr>
        <p:spPr>
          <a:xfrm>
            <a:off x="2795587" y="4349055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2795587" y="43490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0"/>
          <p:cNvSpPr/>
          <p:nvPr/>
        </p:nvSpPr>
        <p:spPr>
          <a:xfrm>
            <a:off x="4910137" y="5044380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0"/>
          <p:cNvSpPr/>
          <p:nvPr/>
        </p:nvSpPr>
        <p:spPr>
          <a:xfrm>
            <a:off x="4910137" y="4349055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0"/>
          <p:cNvSpPr/>
          <p:nvPr/>
        </p:nvSpPr>
        <p:spPr>
          <a:xfrm>
            <a:off x="7558087" y="5044380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0"/>
          <p:cNvSpPr/>
          <p:nvPr/>
        </p:nvSpPr>
        <p:spPr>
          <a:xfrm>
            <a:off x="7558087" y="4349055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9386887" y="43490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0"/>
          <p:cNvSpPr/>
          <p:nvPr/>
        </p:nvSpPr>
        <p:spPr>
          <a:xfrm>
            <a:off x="2795587" y="5844480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2795587" y="5149155"/>
            <a:ext cx="21145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2795587" y="51491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4910137" y="5844480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4910137" y="5149155"/>
            <a:ext cx="26479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7558087" y="5844480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/>
          <p:nvPr/>
        </p:nvSpPr>
        <p:spPr>
          <a:xfrm>
            <a:off x="7558087" y="5149155"/>
            <a:ext cx="18383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0"/>
          <p:cNvSpPr/>
          <p:nvPr/>
        </p:nvSpPr>
        <p:spPr>
          <a:xfrm>
            <a:off x="9386887" y="5149155"/>
            <a:ext cx="9525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581025" y="908744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Comparative Entropy Analysis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6" name="Google Shape;19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/>
        </p:nvSpPr>
        <p:spPr>
          <a:xfrm>
            <a:off x="2355532" y="2900362"/>
            <a:ext cx="7480935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Static Analysis Defense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2533650" y="3910012"/>
            <a:ext cx="7124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Unmasking payloads without symbol tables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3" name="Google Shape;20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2"/>
          <p:cNvSpPr txBox="1"/>
          <p:nvPr/>
        </p:nvSpPr>
        <p:spPr>
          <a:xfrm>
            <a:off x="581025" y="771525"/>
            <a:ext cx="5190648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Defeating Stripping</a:t>
            </a:r>
            <a:endParaRPr/>
          </a:p>
        </p:txBody>
      </p:sp>
      <p:pic>
        <p:nvPicPr>
          <p:cNvPr descr="image.png" id="205" name="Google Shape;205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2"/>
          <p:cNvSpPr txBox="1"/>
          <p:nvPr/>
        </p:nvSpPr>
        <p:spPr>
          <a:xfrm>
            <a:off x="581025" y="170497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Attackers strip symbol tables to hide function names and frustrate incident responders.</a:t>
            </a:r>
            <a:endParaRPr/>
          </a:p>
        </p:txBody>
      </p:sp>
      <p:sp>
        <p:nvSpPr>
          <p:cNvPr id="207" name="Google Shape;207;p22"/>
          <p:cNvSpPr txBox="1"/>
          <p:nvPr/>
        </p:nvSpPr>
        <p:spPr>
          <a:xfrm>
            <a:off x="581025" y="2457450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Our analyzer parses the PE headers to find the mandatory Program Counter Line Number Table.</a:t>
            </a:r>
            <a:endParaRPr/>
          </a:p>
        </p:txBody>
      </p:sp>
      <p:sp>
        <p:nvSpPr>
          <p:cNvPr id="208" name="Google Shape;208;p22"/>
          <p:cNvSpPr txBox="1"/>
          <p:nvPr/>
        </p:nvSpPr>
        <p:spPr>
          <a:xfrm>
            <a:off x="581025" y="320992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Locating this structure confirms the Go runtime presence despite aggressive compiler obfuscation.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3" name="Google Shape;21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3"/>
          <p:cNvSpPr/>
          <p:nvPr/>
        </p:nvSpPr>
        <p:spPr>
          <a:xfrm>
            <a:off x="876300" y="4768006"/>
            <a:ext cx="6457950" cy="742950"/>
          </a:xfrm>
          <a:prstGeom prst="roundRect">
            <a:avLst>
              <a:gd fmla="val 15384" name="adj"/>
            </a:avLst>
          </a:prstGeom>
          <a:solidFill>
            <a:srgbClr val="CCFF00"/>
          </a:solidFill>
          <a:ln cap="flat" cmpd="sng" w="9525">
            <a:solidFill>
              <a:srgbClr val="CC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3"/>
          <p:cNvSpPr txBox="1"/>
          <p:nvPr/>
        </p:nvSpPr>
        <p:spPr>
          <a:xfrm>
            <a:off x="1685925" y="4958506"/>
            <a:ext cx="5362575" cy="361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b="0" i="0" lang="en-US" sz="1200" u="none" cap="none" strike="noStrike">
                <a:solidFill>
                  <a:srgbClr val="F8FAFC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github.com/howlcipher/cryptography_class_project_02</a:t>
            </a:r>
            <a:endParaRPr/>
          </a:p>
        </p:txBody>
      </p:sp>
      <p:pic>
        <p:nvPicPr>
          <p:cNvPr descr="image.png" id="216" name="Google Shape;21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1575" y="4968031"/>
            <a:ext cx="3333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3"/>
          <p:cNvSpPr txBox="1"/>
          <p:nvPr/>
        </p:nvSpPr>
        <p:spPr>
          <a:xfrm>
            <a:off x="1352550" y="2432744"/>
            <a:ext cx="99631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Utilize the uv environment manager for exceptionally fast dependency resolution and execution.</a:t>
            </a:r>
            <a:endParaRPr/>
          </a:p>
        </p:txBody>
      </p:sp>
      <p:sp>
        <p:nvSpPr>
          <p:cNvPr id="218" name="Google Shape;218;p23"/>
          <p:cNvSpPr txBox="1"/>
          <p:nvPr/>
        </p:nvSpPr>
        <p:spPr>
          <a:xfrm>
            <a:off x="1352550" y="3084165"/>
            <a:ext cx="99631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Leverage SciPy and NumPy for high performance probability calculations and byte array processing.</a:t>
            </a:r>
            <a:endParaRPr/>
          </a:p>
        </p:txBody>
      </p:sp>
      <p:sp>
        <p:nvSpPr>
          <p:cNvPr id="219" name="Google Shape;219;p23"/>
          <p:cNvSpPr txBox="1"/>
          <p:nvPr/>
        </p:nvSpPr>
        <p:spPr>
          <a:xfrm>
            <a:off x="1352550" y="3735585"/>
            <a:ext cx="99631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Maintain centralized configuration via JSON to adjust entropy thresholds without code modification.</a:t>
            </a:r>
            <a:endParaRPr/>
          </a:p>
        </p:txBody>
      </p:sp>
      <p:pic>
        <p:nvPicPr>
          <p:cNvPr descr="image.png" id="220" name="Google Shape;220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6300" y="247560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6300" y="3127027"/>
            <a:ext cx="2381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3778448"/>
            <a:ext cx="20002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3"/>
          <p:cNvSpPr txBox="1"/>
          <p:nvPr/>
        </p:nvSpPr>
        <p:spPr>
          <a:xfrm>
            <a:off x="581025" y="1346894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Technical Deployment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57412"/>
            <a:ext cx="3486150" cy="3476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157412"/>
            <a:ext cx="3486150" cy="3476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157412"/>
            <a:ext cx="3486150" cy="3476625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4"/>
          <p:cNvSpPr txBox="1"/>
          <p:nvPr/>
        </p:nvSpPr>
        <p:spPr>
          <a:xfrm>
            <a:off x="971550" y="3405187"/>
            <a:ext cx="284035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Extensions</a:t>
            </a:r>
            <a:endParaRPr/>
          </a:p>
        </p:txBody>
      </p:sp>
      <p:sp>
        <p:nvSpPr>
          <p:cNvPr id="233" name="Google Shape;233;p24"/>
          <p:cNvSpPr txBox="1"/>
          <p:nvPr/>
        </p:nvSpPr>
        <p:spPr>
          <a:xfrm>
            <a:off x="971550" y="3881437"/>
            <a:ext cx="27051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Cross reference entropy events with extension changes to identify suspicious renaming activity.</a:t>
            </a:r>
            <a:endParaRPr/>
          </a:p>
        </p:txBody>
      </p:sp>
      <p:sp>
        <p:nvSpPr>
          <p:cNvPr id="234" name="Google Shape;234;p24"/>
          <p:cNvSpPr txBox="1"/>
          <p:nvPr/>
        </p:nvSpPr>
        <p:spPr>
          <a:xfrm>
            <a:off x="4743450" y="3405187"/>
            <a:ext cx="284035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Velocity</a:t>
            </a:r>
            <a:endParaRPr/>
          </a:p>
        </p:txBody>
      </p:sp>
      <p:sp>
        <p:nvSpPr>
          <p:cNvPr id="235" name="Google Shape;235;p24"/>
          <p:cNvSpPr txBox="1"/>
          <p:nvPr/>
        </p:nvSpPr>
        <p:spPr>
          <a:xfrm>
            <a:off x="4743450" y="3881437"/>
            <a:ext cx="27051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Set minimum write speed limits to distinguish between user compression and concurrent malware loops.</a:t>
            </a:r>
            <a:endParaRPr/>
          </a:p>
        </p:txBody>
      </p:sp>
      <p:sp>
        <p:nvSpPr>
          <p:cNvPr id="236" name="Google Shape;236;p24"/>
          <p:cNvSpPr txBox="1"/>
          <p:nvPr/>
        </p:nvSpPr>
        <p:spPr>
          <a:xfrm>
            <a:off x="8515350" y="3405187"/>
            <a:ext cx="284035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Layering</a:t>
            </a:r>
            <a:endParaRPr/>
          </a:p>
        </p:txBody>
      </p:sp>
      <p:sp>
        <p:nvSpPr>
          <p:cNvPr id="237" name="Google Shape;237;p24"/>
          <p:cNvSpPr txBox="1"/>
          <p:nvPr/>
        </p:nvSpPr>
        <p:spPr>
          <a:xfrm>
            <a:off x="8515350" y="3881437"/>
            <a:ext cx="27051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Combine mathematical analysis with endpoint signals for a robust multi factor defensive posture.</a:t>
            </a:r>
            <a:endParaRPr/>
          </a:p>
        </p:txBody>
      </p:sp>
      <p:pic>
        <p:nvPicPr>
          <p:cNvPr descr="image.png" id="238" name="Google Shape;238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71550" y="2586037"/>
            <a:ext cx="581025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43450" y="2586037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15350" y="2586037"/>
            <a:ext cx="51435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4"/>
          <p:cNvSpPr txBox="1"/>
          <p:nvPr/>
        </p:nvSpPr>
        <p:spPr>
          <a:xfrm>
            <a:off x="581025" y="1223962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Mitigating False Positives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6" name="Google Shape;2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04950" y="2394644"/>
            <a:ext cx="9182100" cy="300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5"/>
          <p:cNvSpPr txBox="1"/>
          <p:nvPr/>
        </p:nvSpPr>
        <p:spPr>
          <a:xfrm>
            <a:off x="581025" y="1461194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Defensive Pipeline Architecture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9800" y="2652712"/>
            <a:ext cx="7772400" cy="24860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6"/>
          <p:cNvSpPr txBox="1"/>
          <p:nvPr/>
        </p:nvSpPr>
        <p:spPr>
          <a:xfrm>
            <a:off x="2209800" y="4691062"/>
            <a:ext cx="7772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Results based on one hundred concurrent encryption test runs against a custom Go payload.</a:t>
            </a:r>
            <a:endParaRPr/>
          </a:p>
        </p:txBody>
      </p:sp>
      <p:sp>
        <p:nvSpPr>
          <p:cNvPr id="256" name="Google Shape;256;p26"/>
          <p:cNvSpPr txBox="1"/>
          <p:nvPr/>
        </p:nvSpPr>
        <p:spPr>
          <a:xfrm>
            <a:off x="581025" y="1719262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Simulation Success Metrics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1" name="Google Shape;26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7"/>
          <p:cNvSpPr txBox="1"/>
          <p:nvPr/>
        </p:nvSpPr>
        <p:spPr>
          <a:xfrm>
            <a:off x="3950731" y="2305050"/>
            <a:ext cx="4290536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Questions?</a:t>
            </a:r>
            <a:endParaRPr/>
          </a:p>
        </p:txBody>
      </p:sp>
      <p:sp>
        <p:nvSpPr>
          <p:cNvPr id="263" name="Google Shape;263;p27"/>
          <p:cNvSpPr txBox="1"/>
          <p:nvPr/>
        </p:nvSpPr>
        <p:spPr>
          <a:xfrm>
            <a:off x="4052887" y="3143250"/>
            <a:ext cx="4086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Unmasking Go Ransomware Defensive Pipeline</a:t>
            </a:r>
            <a:endParaRPr/>
          </a:p>
        </p:txBody>
      </p:sp>
      <p:sp>
        <p:nvSpPr>
          <p:cNvPr id="264" name="Google Shape;264;p27"/>
          <p:cNvSpPr txBox="1"/>
          <p:nvPr/>
        </p:nvSpPr>
        <p:spPr>
          <a:xfrm>
            <a:off x="4052887" y="3829050"/>
            <a:ext cx="4086225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William Elias | contact@williamelias.edu</a:t>
            </a:r>
            <a:r>
              <a:rPr b="0" i="0" lang="en-US" sz="1200" u="none" cap="none" strike="noStrike">
                <a:solidFill>
                  <a:srgbClr val="000000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b="0" i="0" lang="en-US" sz="1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 howlcipher/cryptography_class_project_02 </a:t>
            </a:r>
            <a:endParaRPr/>
          </a:p>
        </p:txBody>
      </p:sp>
      <p:pic>
        <p:nvPicPr>
          <p:cNvPr descr="image.png" id="265" name="Google Shape;26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52887" y="4329112"/>
            <a:ext cx="180975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8"/>
          <p:cNvSpPr/>
          <p:nvPr/>
        </p:nvSpPr>
        <p:spPr>
          <a:xfrm>
            <a:off x="1881187" y="3115716"/>
            <a:ext cx="8429625" cy="784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1881187" y="3890962"/>
            <a:ext cx="84296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8"/>
          <p:cNvSpPr/>
          <p:nvPr/>
        </p:nvSpPr>
        <p:spPr>
          <a:xfrm>
            <a:off x="1881187" y="3890962"/>
            <a:ext cx="842962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74" name="Google Shape;274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81187" y="326514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8"/>
          <p:cNvSpPr txBox="1"/>
          <p:nvPr/>
        </p:nvSpPr>
        <p:spPr>
          <a:xfrm>
            <a:off x="2976562" y="3258591"/>
            <a:ext cx="7334250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https://images.stockcake.com/public/b/6/c/b6c9edb3-845a-4050-8f8a-9e6478418abb_large/digital-data-stream-stockcake.jpg</a:t>
            </a:r>
            <a:endParaRPr/>
          </a:p>
        </p:txBody>
      </p:sp>
      <p:sp>
        <p:nvSpPr>
          <p:cNvPr id="276" name="Google Shape;276;p28"/>
          <p:cNvSpPr txBox="1"/>
          <p:nvPr/>
        </p:nvSpPr>
        <p:spPr>
          <a:xfrm>
            <a:off x="2976562" y="3504307"/>
            <a:ext cx="733425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stockcake.com</a:t>
            </a:r>
            <a:endParaRPr/>
          </a:p>
        </p:txBody>
      </p:sp>
      <p:pic>
        <p:nvPicPr>
          <p:cNvPr descr="image.png" id="277" name="Google Shape;277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81187" y="404991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8"/>
          <p:cNvSpPr txBox="1"/>
          <p:nvPr/>
        </p:nvSpPr>
        <p:spPr>
          <a:xfrm>
            <a:off x="2976562" y="4043362"/>
            <a:ext cx="7334250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https://netnam.com/hs-fs/hubfs/Blog%20Image%20-%20Optimized/Dashboard.png?width=1280&amp;height=1108&amp;name=Dashboard.png</a:t>
            </a:r>
            <a:endParaRPr/>
          </a:p>
        </p:txBody>
      </p:sp>
      <p:sp>
        <p:nvSpPr>
          <p:cNvPr id="279" name="Google Shape;279;p28"/>
          <p:cNvSpPr txBox="1"/>
          <p:nvPr/>
        </p:nvSpPr>
        <p:spPr>
          <a:xfrm>
            <a:off x="2976562" y="4289077"/>
            <a:ext cx="733425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netnam.com</a:t>
            </a:r>
            <a:endParaRPr/>
          </a:p>
        </p:txBody>
      </p:sp>
      <p:sp>
        <p:nvSpPr>
          <p:cNvPr id="280" name="Google Shape;280;p28"/>
          <p:cNvSpPr txBox="1"/>
          <p:nvPr/>
        </p:nvSpPr>
        <p:spPr>
          <a:xfrm>
            <a:off x="581025" y="2182266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CC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Image Sources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